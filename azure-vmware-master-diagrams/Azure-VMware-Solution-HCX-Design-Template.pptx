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142532414" r:id="rId2"/>
    <p:sldId id="2147472489" r:id="rId3"/>
    <p:sldId id="256" r:id="rId4"/>
    <p:sldId id="2147472491" r:id="rId5"/>
    <p:sldId id="258" r:id="rId6"/>
    <p:sldId id="2147472495" r:id="rId7"/>
    <p:sldId id="2147472496" r:id="rId8"/>
    <p:sldId id="2147472493" r:id="rId9"/>
    <p:sldId id="214747249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25" autoAdjust="0"/>
    <p:restoredTop sz="94660"/>
  </p:normalViewPr>
  <p:slideViewPr>
    <p:cSldViewPr snapToGrid="0">
      <p:cViewPr varScale="1">
        <p:scale>
          <a:sx n="140" d="100"/>
          <a:sy n="140" d="100"/>
        </p:scale>
        <p:origin x="13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C81A28-B538-9E47-C1BF-67A8DB2A91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9180DF-2B7A-F2EA-F63B-4C8D2247A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C8E872-8294-69F9-1D1D-0AFE3F5C6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FB250-9BD0-4E2A-A5FA-A663946801CD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3512E-AC89-2B24-C23F-6DE2430D90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89C8AB-EE0B-A9FB-FD70-80270D1BE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F34A1-28ED-4AF1-9F24-5E0B385C2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209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F675B-0581-78CC-8055-226A35B4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4DD3DE-A3DA-38CC-24B0-895E01EDF9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915790-BB42-AF5D-2184-7D76C8345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FB250-9BD0-4E2A-A5FA-A663946801CD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BACCE6-0612-4246-47EA-5F7FCC171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B8EAB7-2996-3D2B-D9DD-AA5B225E6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F34A1-28ED-4AF1-9F24-5E0B385C2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797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5B6C5-FC0D-6765-5462-CFF99F21B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2C9C2-A4CB-C40B-E1DB-10BB76DC4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4B2D1D-4CCA-01AF-8369-6D670BE66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FB250-9BD0-4E2A-A5FA-A663946801CD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D42D99-CC90-6DB1-B3F2-721634F2B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EAF044-8275-D0B3-E96E-A6FF1C131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F34A1-28ED-4AF1-9F24-5E0B385C2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1630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E3D9C4-6A7E-8E8B-B1FC-8A88AFA7B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F18287-CD05-B029-EB16-FE5D2289A9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ABC496-95DD-155B-4477-C19FCA2947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7492A2-4848-54CA-5B1A-3F879E36BB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FB250-9BD0-4E2A-A5FA-A663946801CD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E2362D-CB6C-6239-6C60-5DA60786B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AF3F64-FE94-39F0-FB31-741502CEA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F34A1-28ED-4AF1-9F24-5E0B385C2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88245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EBCE53-7384-658F-08E2-16614ED6F7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EED296-3350-08F4-5233-558157C65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7A4F08-742F-DD10-DE15-438AB2A7A1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B2CB60A-09E0-9BBA-5961-CB6E4A371FB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3D10E63-88A6-FC27-C68B-18676A401FF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01A867-8671-3122-5045-022446C4D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FB250-9BD0-4E2A-A5FA-A663946801CD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022F9E-7DE4-209D-4E21-1B508952E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822383-7810-C5E9-380D-6AC42E3828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F34A1-28ED-4AF1-9F24-5E0B385C2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0669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A5272-7811-16F9-5093-5834B35AE5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7C939D-F5D1-15DB-502C-3B87E375C3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FB250-9BD0-4E2A-A5FA-A663946801CD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500354B-92B5-0B10-5840-E0AFA9701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69E9C4-E280-E409-E7EE-006156E937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F34A1-28ED-4AF1-9F24-5E0B385C2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5101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4020DD4-3F5E-F191-CE00-3B43E28967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FB250-9BD0-4E2A-A5FA-A663946801CD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15FEC1-4B0B-3E1F-62E1-E3FF31747E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83209CA-E9DC-3A94-4519-2D44817C5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F34A1-28ED-4AF1-9F24-5E0B385C2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233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5AE86-A59A-9F9D-27F6-2746B2D45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C2F497-6C27-819E-671E-053639810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9D1AD0-35AC-1231-8AD2-D117DAF85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18D8038-1320-F51E-4546-A79E850C0A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FB250-9BD0-4E2A-A5FA-A663946801CD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933F6B-1CD4-D346-F620-7B6A73B820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57B1AE-2551-25FE-215E-3417E96807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F34A1-28ED-4AF1-9F24-5E0B385C2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6652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662CD-EEE0-C4BD-3879-92B10DD9B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A89374D-2932-CE3B-270C-2EDD37FB818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E76F19-4380-8D00-20E5-CC338E83C4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1F09910-6A89-9087-8E64-C150BB4B0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FB250-9BD0-4E2A-A5FA-A663946801CD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52338B5-67E0-0E7F-3BDB-60A6EF8197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D5FD160-5996-3FB4-7BF5-B864CCE1F9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F34A1-28ED-4AF1-9F24-5E0B385C2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45761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6433A-8307-06C8-2B88-E239EE9265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D9FC1D-867B-A8CA-2B78-78EEC37CFAA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CF67A5-8759-1275-B04B-9B9CCF86B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FB250-9BD0-4E2A-A5FA-A663946801CD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D3A3C0-2BC2-A5A7-F56B-A47FADC7A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C0C75-72AF-3FC1-6059-BD255F5EF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F34A1-28ED-4AF1-9F24-5E0B385C2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5805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75896B-CD77-D3F2-1467-B57BE71C88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1A4858-D1BC-0F32-2227-34A279DEE6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351378-C1F1-ACB6-7001-34F7739C33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5FB250-9BD0-4E2A-A5FA-A663946801CD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7AADC-FD45-D7B8-5B61-38BFA2BCBC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CEC6B8-07BD-69AE-0976-123AA8F6C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BF34A1-28ED-4AF1-9F24-5E0B385C2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1370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72C4AC-3D83-C9A7-CED0-D1AD459EB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6CCCCC-873A-F9E6-1C56-517D6FA3E2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03B79B-2DE9-8C97-8790-F7E0CED2D6E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5FB250-9BD0-4E2A-A5FA-A663946801CD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6D5577-E1E1-FA1B-BE69-4763B91273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D73380-FFE1-F94C-1BE8-74AFEF01CB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BF34A1-28ED-4AF1-9F24-5E0B385C26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6370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svg"/><Relationship Id="rId3" Type="http://schemas.openxmlformats.org/officeDocument/2006/relationships/image" Target="../media/image5.svg"/><Relationship Id="rId7" Type="http://schemas.openxmlformats.org/officeDocument/2006/relationships/image" Target="../media/image8.png"/><Relationship Id="rId12" Type="http://schemas.openxmlformats.org/officeDocument/2006/relationships/image" Target="../media/image13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2.svg"/><Relationship Id="rId10" Type="http://schemas.openxmlformats.org/officeDocument/2006/relationships/image" Target="../media/image11.svg"/><Relationship Id="rId4" Type="http://schemas.openxmlformats.org/officeDocument/2006/relationships/image" Target="../media/image6.svg"/><Relationship Id="rId9" Type="http://schemas.openxmlformats.org/officeDocument/2006/relationships/image" Target="../media/image10.png"/><Relationship Id="rId14" Type="http://schemas.openxmlformats.org/officeDocument/2006/relationships/image" Target="../media/image1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C5055B0-BC20-73A2-09EC-CAE5229D73DA}"/>
              </a:ext>
            </a:extLst>
          </p:cNvPr>
          <p:cNvGrpSpPr/>
          <p:nvPr/>
        </p:nvGrpSpPr>
        <p:grpSpPr>
          <a:xfrm>
            <a:off x="2558928" y="1129393"/>
            <a:ext cx="7074143" cy="4599214"/>
            <a:chOff x="2992167" y="1586607"/>
            <a:chExt cx="7074143" cy="4599214"/>
          </a:xfrm>
        </p:grpSpPr>
        <p:pic>
          <p:nvPicPr>
            <p:cNvPr id="3" name="Picture 4">
              <a:extLst>
                <a:ext uri="{FF2B5EF4-FFF2-40B4-BE49-F238E27FC236}">
                  <a16:creationId xmlns:a16="http://schemas.microsoft.com/office/drawing/2014/main" id="{6F42CB34-8309-ACF9-AF09-02363B588E5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92167" y="1586607"/>
              <a:ext cx="1642805" cy="164128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" name="Graphic 3" descr="Azure VMware Solution Private Cloud">
              <a:extLst>
                <a:ext uri="{FF2B5EF4-FFF2-40B4-BE49-F238E27FC236}">
                  <a16:creationId xmlns:a16="http://schemas.microsoft.com/office/drawing/2014/main" id="{33043DA9-FE02-D143-CEFC-60706BCD2CE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813570" y="2257755"/>
              <a:ext cx="3872212" cy="3872212"/>
            </a:xfrm>
            <a:prstGeom prst="rect">
              <a:avLst/>
            </a:prstGeom>
          </p:spPr>
        </p:pic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C2860492-8AFA-EBE7-3300-FA3C23B1FD3F}"/>
                </a:ext>
              </a:extLst>
            </p:cNvPr>
            <p:cNvGrpSpPr/>
            <p:nvPr/>
          </p:nvGrpSpPr>
          <p:grpSpPr>
            <a:xfrm>
              <a:off x="7627910" y="3747421"/>
              <a:ext cx="2438400" cy="2438400"/>
              <a:chOff x="7944653" y="377503"/>
              <a:chExt cx="3872212" cy="3872212"/>
            </a:xfrm>
          </p:grpSpPr>
          <p:pic>
            <p:nvPicPr>
              <p:cNvPr id="5" name="Picture 2" descr="Solutions | Powersave">
                <a:extLst>
                  <a:ext uri="{FF2B5EF4-FFF2-40B4-BE49-F238E27FC236}">
                    <a16:creationId xmlns:a16="http://schemas.microsoft.com/office/drawing/2014/main" id="{BCFD035B-E7BB-D7F2-E9A9-B287FFA2EC4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944653" y="377503"/>
                <a:ext cx="3872212" cy="387221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F83BF332-501C-C181-AA80-310B877F4AC4}"/>
                  </a:ext>
                </a:extLst>
              </p:cNvPr>
              <p:cNvSpPr/>
              <p:nvPr/>
            </p:nvSpPr>
            <p:spPr>
              <a:xfrm>
                <a:off x="9017301" y="1384300"/>
                <a:ext cx="1026109" cy="1066800"/>
              </a:xfrm>
              <a:prstGeom prst="rect">
                <a:avLst/>
              </a:prstGeom>
              <a:solidFill>
                <a:schemeClr val="tx1">
                  <a:lumMod val="85000"/>
                  <a:lumOff val="15000"/>
                </a:schemeClr>
              </a:solidFill>
              <a:ln>
                <a:solidFill>
                  <a:schemeClr val="tx1">
                    <a:lumMod val="85000"/>
                    <a:lumOff val="1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" name="Picture 2" descr="Microsoft Azure - Wikipedia">
                <a:extLst>
                  <a:ext uri="{FF2B5EF4-FFF2-40B4-BE49-F238E27FC236}">
                    <a16:creationId xmlns:a16="http://schemas.microsoft.com/office/drawing/2014/main" id="{835CB6A0-8FC3-551D-A453-1F82367541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114101" y="1453045"/>
                <a:ext cx="929309" cy="9293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23951143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25" name="Group 2124">
            <a:extLst>
              <a:ext uri="{FF2B5EF4-FFF2-40B4-BE49-F238E27FC236}">
                <a16:creationId xmlns:a16="http://schemas.microsoft.com/office/drawing/2014/main" id="{47B6FC09-28FA-1756-2F4A-8A43BEED0BA3}"/>
              </a:ext>
            </a:extLst>
          </p:cNvPr>
          <p:cNvGrpSpPr/>
          <p:nvPr/>
        </p:nvGrpSpPr>
        <p:grpSpPr>
          <a:xfrm>
            <a:off x="296090" y="121138"/>
            <a:ext cx="10345060" cy="5010697"/>
            <a:chOff x="296090" y="121138"/>
            <a:chExt cx="10345060" cy="5010697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4726686A-14A8-0A8D-8CFA-FE9778A08F0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4141384" y="121138"/>
              <a:ext cx="6499766" cy="5010697"/>
            </a:xfrm>
            <a:prstGeom prst="rect">
              <a:avLst/>
            </a:prstGeom>
            <a:noFill/>
            <a:ln w="19050">
              <a:solidFill>
                <a:schemeClr val="accent1"/>
              </a:solidFill>
              <a:prstDash val="solid"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32472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egoe UI"/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4" name="Picture 3" descr="Microsoft Azure - Wikipedia">
              <a:extLst>
                <a:ext uri="{FF2B5EF4-FFF2-40B4-BE49-F238E27FC236}">
                  <a16:creationId xmlns:a16="http://schemas.microsoft.com/office/drawing/2014/main" id="{4FBDDE18-5C84-22EE-7709-311127A942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0537" y="249003"/>
              <a:ext cx="412834" cy="41283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E6B8B39F-7B2F-99ED-61B6-696FC37F7A56}"/>
                </a:ext>
              </a:extLst>
            </p:cNvPr>
            <p:cNvSpPr txBox="1"/>
            <p:nvPr/>
          </p:nvSpPr>
          <p:spPr>
            <a:xfrm>
              <a:off x="4737207" y="370781"/>
              <a:ext cx="1030731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Microsoft Azure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D1C7032-9CFB-919E-B98E-11C8B157950D}"/>
                </a:ext>
              </a:extLst>
            </p:cNvPr>
            <p:cNvSpPr txBox="1"/>
            <p:nvPr/>
          </p:nvSpPr>
          <p:spPr>
            <a:xfrm>
              <a:off x="6394515" y="1623135"/>
              <a:ext cx="501739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dirty="0">
                  <a:solidFill>
                    <a:srgbClr val="000000"/>
                  </a:solidFill>
                  <a:latin typeface="Segoe UI"/>
                </a:rPr>
                <a:t>D-MSEE</a:t>
              </a:r>
            </a:p>
          </p:txBody>
        </p:sp>
        <p:pic>
          <p:nvPicPr>
            <p:cNvPr id="8" name="Graphic 7" descr="Dedicated Microsoft Enterprise Edge Router for Azure VMware Solution infrastructure">
              <a:extLst>
                <a:ext uri="{FF2B5EF4-FFF2-40B4-BE49-F238E27FC236}">
                  <a16:creationId xmlns:a16="http://schemas.microsoft.com/office/drawing/2014/main" id="{EFA5F834-FCD8-E9D1-3151-DF59BD59F89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biLevel thresh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421102" y="1835106"/>
              <a:ext cx="448567" cy="448567"/>
            </a:xfrm>
            <a:prstGeom prst="rect">
              <a:avLst/>
            </a:prstGeom>
          </p:spPr>
        </p:pic>
        <p:cxnSp>
          <p:nvCxnSpPr>
            <p:cNvPr id="9" name="Connector: Elbow 61">
              <a:extLst>
                <a:ext uri="{FF2B5EF4-FFF2-40B4-BE49-F238E27FC236}">
                  <a16:creationId xmlns:a16="http://schemas.microsoft.com/office/drawing/2014/main" id="{3341B928-1156-429D-6A97-DBDF230C6057}"/>
                </a:ext>
              </a:extLst>
            </p:cNvPr>
            <p:cNvCxnSpPr>
              <a:cxnSpLocks/>
              <a:stCxn id="8" idx="3"/>
            </p:cNvCxnSpPr>
            <p:nvPr/>
          </p:nvCxnSpPr>
          <p:spPr>
            <a:xfrm>
              <a:off x="6869669" y="2059390"/>
              <a:ext cx="831959" cy="0"/>
            </a:xfrm>
            <a:prstGeom prst="straightConnector1">
              <a:avLst/>
            </a:prstGeom>
            <a:ln w="31750">
              <a:solidFill>
                <a:srgbClr val="7030A0"/>
              </a:solidFill>
              <a:prstDash val="solid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nector: Elbow 61">
              <a:extLst>
                <a:ext uri="{FF2B5EF4-FFF2-40B4-BE49-F238E27FC236}">
                  <a16:creationId xmlns:a16="http://schemas.microsoft.com/office/drawing/2014/main" id="{D9DABC9C-7390-8FA9-BB4B-E103778E5992}"/>
                </a:ext>
              </a:extLst>
            </p:cNvPr>
            <p:cNvCxnSpPr>
              <a:cxnSpLocks/>
              <a:stCxn id="21" idx="3"/>
              <a:endCxn id="26" idx="1"/>
            </p:cNvCxnSpPr>
            <p:nvPr/>
          </p:nvCxnSpPr>
          <p:spPr>
            <a:xfrm flipV="1">
              <a:off x="2887066" y="2059389"/>
              <a:ext cx="1438114" cy="5213"/>
            </a:xfrm>
            <a:prstGeom prst="straightConnector1">
              <a:avLst/>
            </a:prstGeom>
            <a:ln w="31750">
              <a:solidFill>
                <a:srgbClr val="7030A0"/>
              </a:solidFill>
              <a:prstDash val="solid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645CC04-9274-03AF-F7D2-32B3F50D95A6}"/>
                </a:ext>
              </a:extLst>
            </p:cNvPr>
            <p:cNvSpPr txBox="1"/>
            <p:nvPr/>
          </p:nvSpPr>
          <p:spPr>
            <a:xfrm>
              <a:off x="3183998" y="2484577"/>
              <a:ext cx="831959" cy="33855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Azure</a:t>
              </a:r>
            </a:p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dirty="0">
                  <a:solidFill>
                    <a:srgbClr val="000000"/>
                  </a:solidFill>
                  <a:latin typeface="Segoe UI"/>
                </a:rPr>
                <a:t>ExpressRoute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12" name="グラフィックス 37" descr="Azure ExpressRoute">
              <a:extLst>
                <a:ext uri="{FF2B5EF4-FFF2-40B4-BE49-F238E27FC236}">
                  <a16:creationId xmlns:a16="http://schemas.microsoft.com/office/drawing/2014/main" id="{29AE2DCB-681F-983C-B496-31EB4D6E0C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86865" y="2099430"/>
              <a:ext cx="411950" cy="41195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E8C2453F-3D2C-F7CA-51BD-E8EB2DE76F13}"/>
                </a:ext>
              </a:extLst>
            </p:cNvPr>
            <p:cNvSpPr txBox="1"/>
            <p:nvPr/>
          </p:nvSpPr>
          <p:spPr>
            <a:xfrm>
              <a:off x="8235900" y="928112"/>
              <a:ext cx="1466748" cy="50783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Azure VMware Solution</a:t>
              </a:r>
            </a:p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dirty="0">
                  <a:solidFill>
                    <a:srgbClr val="000000"/>
                  </a:solidFill>
                  <a:latin typeface="Segoe UI"/>
                </a:rPr>
                <a:t>Private Cloud A</a:t>
              </a:r>
            </a:p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dirty="0">
                  <a:solidFill>
                    <a:srgbClr val="000000"/>
                  </a:solidFill>
                  <a:latin typeface="Segoe UI"/>
                </a:rPr>
                <a:t>Target Environment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16BDA35-FC65-BFCB-168B-84C6AAD3D6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7694432" y="828567"/>
              <a:ext cx="2737304" cy="4154910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pic>
          <p:nvPicPr>
            <p:cNvPr id="15" name="Graphic 14" descr="Azure VMware Solution Private Cloud">
              <a:extLst>
                <a:ext uri="{FF2B5EF4-FFF2-40B4-BE49-F238E27FC236}">
                  <a16:creationId xmlns:a16="http://schemas.microsoft.com/office/drawing/2014/main" id="{565A510A-89A7-4FC0-0374-8A3BF55A69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750730" y="885456"/>
              <a:ext cx="412833" cy="412833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AC32E00-109F-1BA2-8B8E-DABE90D67F31}"/>
                </a:ext>
              </a:extLst>
            </p:cNvPr>
            <p:cNvSpPr txBox="1"/>
            <p:nvPr/>
          </p:nvSpPr>
          <p:spPr>
            <a:xfrm>
              <a:off x="868731" y="927032"/>
              <a:ext cx="2372102" cy="507831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dirty="0">
                  <a:solidFill>
                    <a:srgbClr val="000000"/>
                  </a:solidFill>
                  <a:latin typeface="Segoe UI"/>
                </a:rPr>
                <a:t>Customer vSphere Environment</a:t>
              </a:r>
            </a:p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dirty="0">
                  <a:solidFill>
                    <a:srgbClr val="000000"/>
                  </a:solidFill>
                  <a:latin typeface="Segoe UI"/>
                </a:rPr>
                <a:t>(On-Premises, Co-Lo, or Cloud)</a:t>
              </a:r>
            </a:p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dirty="0">
                  <a:solidFill>
                    <a:srgbClr val="000000"/>
                  </a:solidFill>
                  <a:latin typeface="Segoe UI"/>
                </a:rPr>
                <a:t>Source Environment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A4E8B2B1-22B1-B4DA-41E1-DDE2AE9467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301692" y="828568"/>
              <a:ext cx="2737304" cy="4154911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D5661941-2E8D-6E96-7D28-4582BABD69ED}"/>
                </a:ext>
              </a:extLst>
            </p:cNvPr>
            <p:cNvSpPr txBox="1"/>
            <p:nvPr/>
          </p:nvSpPr>
          <p:spPr>
            <a:xfrm>
              <a:off x="4297176" y="1623136"/>
              <a:ext cx="501739" cy="169277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dirty="0">
                  <a:solidFill>
                    <a:srgbClr val="000000"/>
                  </a:solidFill>
                  <a:latin typeface="Segoe UI"/>
                </a:rPr>
                <a:t>D-MSEE</a:t>
              </a:r>
            </a:p>
          </p:txBody>
        </p:sp>
        <p:pic>
          <p:nvPicPr>
            <p:cNvPr id="26" name="Graphic 25" descr="Dedicated Microsoft Enterprise Edge Router for Azure VMware Solution infrastructure">
              <a:extLst>
                <a:ext uri="{FF2B5EF4-FFF2-40B4-BE49-F238E27FC236}">
                  <a16:creationId xmlns:a16="http://schemas.microsoft.com/office/drawing/2014/main" id="{715F01B9-313B-8F9F-61C8-36009F6CDE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biLevel thresh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325180" y="1835105"/>
              <a:ext cx="448567" cy="448567"/>
            </a:xfrm>
            <a:prstGeom prst="rect">
              <a:avLst/>
            </a:prstGeom>
          </p:spPr>
        </p:pic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B186E79C-7676-AD76-BEB9-F6C31AC29A68}"/>
                </a:ext>
              </a:extLst>
            </p:cNvPr>
            <p:cNvSpPr txBox="1"/>
            <p:nvPr/>
          </p:nvSpPr>
          <p:spPr>
            <a:xfrm>
              <a:off x="6774891" y="2514735"/>
              <a:ext cx="831959" cy="33855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Azure</a:t>
              </a:r>
            </a:p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dirty="0">
                  <a:solidFill>
                    <a:srgbClr val="000000"/>
                  </a:solidFill>
                  <a:latin typeface="Segoe UI"/>
                </a:rPr>
                <a:t>ExpressRoute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endParaRPr>
            </a:p>
          </p:txBody>
        </p:sp>
        <p:pic>
          <p:nvPicPr>
            <p:cNvPr id="28" name="グラフィックス 37" descr="Azure ExpressRoute">
              <a:extLst>
                <a:ext uri="{FF2B5EF4-FFF2-40B4-BE49-F238E27FC236}">
                  <a16:creationId xmlns:a16="http://schemas.microsoft.com/office/drawing/2014/main" id="{E75F33CE-D912-6DBC-5DB2-4D4541B2BC8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977758" y="2129588"/>
              <a:ext cx="411950" cy="411950"/>
            </a:xfrm>
            <a:prstGeom prst="rect">
              <a:avLst/>
            </a:prstGeom>
          </p:spPr>
        </p:pic>
        <p:cxnSp>
          <p:nvCxnSpPr>
            <p:cNvPr id="29" name="Connector: Elbow 61">
              <a:extLst>
                <a:ext uri="{FF2B5EF4-FFF2-40B4-BE49-F238E27FC236}">
                  <a16:creationId xmlns:a16="http://schemas.microsoft.com/office/drawing/2014/main" id="{3D2BB538-BE2B-B90E-B65E-AE545444ABB6}"/>
                </a:ext>
              </a:extLst>
            </p:cNvPr>
            <p:cNvCxnSpPr>
              <a:cxnSpLocks/>
              <a:stCxn id="26" idx="3"/>
              <a:endCxn id="8" idx="1"/>
            </p:cNvCxnSpPr>
            <p:nvPr/>
          </p:nvCxnSpPr>
          <p:spPr>
            <a:xfrm>
              <a:off x="4773747" y="2059389"/>
              <a:ext cx="1647355" cy="1"/>
            </a:xfrm>
            <a:prstGeom prst="straightConnector1">
              <a:avLst/>
            </a:prstGeom>
            <a:ln w="31750">
              <a:solidFill>
                <a:srgbClr val="00B050"/>
              </a:solidFill>
              <a:prstDash val="solid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86" name="TextBox 2085">
              <a:extLst>
                <a:ext uri="{FF2B5EF4-FFF2-40B4-BE49-F238E27FC236}">
                  <a16:creationId xmlns:a16="http://schemas.microsoft.com/office/drawing/2014/main" id="{8195B7C6-220B-CD3A-E246-AB9C82DCAFBF}"/>
                </a:ext>
              </a:extLst>
            </p:cNvPr>
            <p:cNvSpPr txBox="1"/>
            <p:nvPr/>
          </p:nvSpPr>
          <p:spPr>
            <a:xfrm>
              <a:off x="5178573" y="1547808"/>
              <a:ext cx="870042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100" dirty="0"/>
                <a:t>HCX Service Mesh</a:t>
              </a:r>
            </a:p>
          </p:txBody>
        </p:sp>
        <p:pic>
          <p:nvPicPr>
            <p:cNvPr id="2091" name="Picture 4" descr="VMware HCX - VMware Ports and Protocols">
              <a:extLst>
                <a:ext uri="{FF2B5EF4-FFF2-40B4-BE49-F238E27FC236}">
                  <a16:creationId xmlns:a16="http://schemas.microsoft.com/office/drawing/2014/main" id="{3B1A9FC7-4158-DD75-67B2-36AF955A57E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7884" y="1770237"/>
              <a:ext cx="412833" cy="4128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56EF25F9-F6EC-4A83-6AB7-41398F671F8D}"/>
                </a:ext>
              </a:extLst>
            </p:cNvPr>
            <p:cNvSpPr txBox="1"/>
            <p:nvPr/>
          </p:nvSpPr>
          <p:spPr>
            <a:xfrm>
              <a:off x="296090" y="3191357"/>
              <a:ext cx="852440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100" dirty="0"/>
                <a:t>VMware HCX</a:t>
              </a:r>
            </a:p>
            <a:p>
              <a:pPr algn="ctr"/>
              <a:r>
                <a:rPr lang="en-US" sz="1100" dirty="0"/>
                <a:t>IX Appliance</a:t>
              </a:r>
            </a:p>
          </p:txBody>
        </p:sp>
        <p:pic>
          <p:nvPicPr>
            <p:cNvPr id="24" name="Picture 23" descr="A hexagon with a logo&#10;&#10;Description automatically generated">
              <a:extLst>
                <a:ext uri="{FF2B5EF4-FFF2-40B4-BE49-F238E27FC236}">
                  <a16:creationId xmlns:a16="http://schemas.microsoft.com/office/drawing/2014/main" id="{67D2F0F6-741D-6487-B3C9-2F7A23C5C4F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9401" y="2610730"/>
              <a:ext cx="412833" cy="453824"/>
            </a:xfrm>
            <a:prstGeom prst="rect">
              <a:avLst/>
            </a:prstGeom>
          </p:spPr>
        </p:pic>
        <p:pic>
          <p:nvPicPr>
            <p:cNvPr id="30" name="Picture 29" descr="A hexagon with a blue and green logo&#10;&#10;Description automatically generated">
              <a:extLst>
                <a:ext uri="{FF2B5EF4-FFF2-40B4-BE49-F238E27FC236}">
                  <a16:creationId xmlns:a16="http://schemas.microsoft.com/office/drawing/2014/main" id="{65655EC7-816B-2C53-7210-B63474544FB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87884" y="2614795"/>
              <a:ext cx="412833" cy="450363"/>
            </a:xfrm>
            <a:prstGeom prst="rect">
              <a:avLst/>
            </a:prstGeom>
          </p:spPr>
        </p:pic>
        <p:pic>
          <p:nvPicPr>
            <p:cNvPr id="31" name="Picture 30" descr="A hexagon with blue and green outline&#10;&#10;Description automatically generated">
              <a:extLst>
                <a:ext uri="{FF2B5EF4-FFF2-40B4-BE49-F238E27FC236}">
                  <a16:creationId xmlns:a16="http://schemas.microsoft.com/office/drawing/2014/main" id="{9DC62891-839E-9F55-1F79-1CA339EE32F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95359" y="2610730"/>
              <a:ext cx="412834" cy="465602"/>
            </a:xfrm>
            <a:prstGeom prst="rect">
              <a:avLst/>
            </a:prstGeom>
          </p:spPr>
        </p:pic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3168A90D-CCED-0E90-AB9E-94A680EB9600}"/>
                </a:ext>
              </a:extLst>
            </p:cNvPr>
            <p:cNvSpPr txBox="1"/>
            <p:nvPr/>
          </p:nvSpPr>
          <p:spPr>
            <a:xfrm>
              <a:off x="1236789" y="3193690"/>
              <a:ext cx="852440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100" dirty="0"/>
                <a:t>VMware HCX</a:t>
              </a:r>
            </a:p>
            <a:p>
              <a:pPr algn="ctr"/>
              <a:r>
                <a:rPr lang="en-US" sz="1100" dirty="0"/>
                <a:t>WO Appliance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12EAA5B-3FCE-59C7-6D11-CFE0DAE9DCCB}"/>
                </a:ext>
              </a:extLst>
            </p:cNvPr>
            <p:cNvSpPr txBox="1"/>
            <p:nvPr/>
          </p:nvSpPr>
          <p:spPr>
            <a:xfrm>
              <a:off x="2175556" y="3183972"/>
              <a:ext cx="852440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100" dirty="0"/>
                <a:t>VMware HCX</a:t>
              </a:r>
            </a:p>
            <a:p>
              <a:pPr algn="ctr"/>
              <a:r>
                <a:rPr lang="en-US" sz="1100" dirty="0"/>
                <a:t>NE Appliance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F534D640-8921-7925-3AC1-23246354C59B}"/>
                </a:ext>
              </a:extLst>
            </p:cNvPr>
            <p:cNvSpPr txBox="1"/>
            <p:nvPr/>
          </p:nvSpPr>
          <p:spPr>
            <a:xfrm>
              <a:off x="1072343" y="2239236"/>
              <a:ext cx="1192634" cy="33855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VMware HCX</a:t>
              </a:r>
            </a:p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Connector Appliance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067" name="Connector: Elbow 61">
              <a:extLst>
                <a:ext uri="{FF2B5EF4-FFF2-40B4-BE49-F238E27FC236}">
                  <a16:creationId xmlns:a16="http://schemas.microsoft.com/office/drawing/2014/main" id="{D42607F1-D051-5ADA-696F-18A9E51078BC}"/>
                </a:ext>
              </a:extLst>
            </p:cNvPr>
            <p:cNvCxnSpPr>
              <a:cxnSpLocks/>
              <a:stCxn id="24" idx="0"/>
              <a:endCxn id="2091" idx="1"/>
            </p:cNvCxnSpPr>
            <p:nvPr/>
          </p:nvCxnSpPr>
          <p:spPr>
            <a:xfrm flipV="1">
              <a:off x="725818" y="1976654"/>
              <a:ext cx="762066" cy="634076"/>
            </a:xfrm>
            <a:prstGeom prst="straightConnector1">
              <a:avLst/>
            </a:prstGeom>
            <a:ln w="31750">
              <a:solidFill>
                <a:srgbClr val="7030A0"/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5" name="Connector: Elbow 61">
              <a:extLst>
                <a:ext uri="{FF2B5EF4-FFF2-40B4-BE49-F238E27FC236}">
                  <a16:creationId xmlns:a16="http://schemas.microsoft.com/office/drawing/2014/main" id="{C3D2AC4B-FD17-8D89-2D23-BBF36BEE0A55}"/>
                </a:ext>
              </a:extLst>
            </p:cNvPr>
            <p:cNvCxnSpPr>
              <a:cxnSpLocks/>
              <a:endCxn id="31" idx="0"/>
            </p:cNvCxnSpPr>
            <p:nvPr/>
          </p:nvCxnSpPr>
          <p:spPr>
            <a:xfrm>
              <a:off x="2089229" y="2129588"/>
              <a:ext cx="512547" cy="481142"/>
            </a:xfrm>
            <a:prstGeom prst="straightConnector1">
              <a:avLst/>
            </a:prstGeom>
            <a:ln w="31750">
              <a:solidFill>
                <a:srgbClr val="0070C0"/>
              </a:solidFill>
              <a:prstDash val="sysDot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1" name="TextBox 2100">
              <a:extLst>
                <a:ext uri="{FF2B5EF4-FFF2-40B4-BE49-F238E27FC236}">
                  <a16:creationId xmlns:a16="http://schemas.microsoft.com/office/drawing/2014/main" id="{D7FCED7C-AC7B-0717-645A-D4A20B98579B}"/>
                </a:ext>
              </a:extLst>
            </p:cNvPr>
            <p:cNvSpPr txBox="1"/>
            <p:nvPr/>
          </p:nvSpPr>
          <p:spPr>
            <a:xfrm>
              <a:off x="4987408" y="2184579"/>
              <a:ext cx="1312098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100" dirty="0"/>
                <a:t>Layer 2 Network Extension</a:t>
              </a:r>
            </a:p>
          </p:txBody>
        </p:sp>
        <p:pic>
          <p:nvPicPr>
            <p:cNvPr id="2102" name="Picture 4" descr="VMware HCX - VMware Ports and Protocols">
              <a:extLst>
                <a:ext uri="{FF2B5EF4-FFF2-40B4-BE49-F238E27FC236}">
                  <a16:creationId xmlns:a16="http://schemas.microsoft.com/office/drawing/2014/main" id="{FDD8B8E6-079C-DB3C-FA81-5C2400BBFD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886333" y="1770237"/>
              <a:ext cx="412833" cy="41283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103" name="TextBox 2102">
              <a:extLst>
                <a:ext uri="{FF2B5EF4-FFF2-40B4-BE49-F238E27FC236}">
                  <a16:creationId xmlns:a16="http://schemas.microsoft.com/office/drawing/2014/main" id="{69FF2915-2953-40E2-1957-F6DCF95F1DAD}"/>
                </a:ext>
              </a:extLst>
            </p:cNvPr>
            <p:cNvSpPr txBox="1"/>
            <p:nvPr/>
          </p:nvSpPr>
          <p:spPr>
            <a:xfrm>
              <a:off x="7694539" y="3191357"/>
              <a:ext cx="852440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100" dirty="0"/>
                <a:t>VMware HCX</a:t>
              </a:r>
            </a:p>
            <a:p>
              <a:pPr algn="ctr"/>
              <a:r>
                <a:rPr lang="en-US" sz="1100" dirty="0"/>
                <a:t>NE Appliance</a:t>
              </a:r>
            </a:p>
          </p:txBody>
        </p:sp>
        <p:pic>
          <p:nvPicPr>
            <p:cNvPr id="2105" name="Picture 2104" descr="A hexagon with a blue and green logo&#10;&#10;Description automatically generated">
              <a:extLst>
                <a:ext uri="{FF2B5EF4-FFF2-40B4-BE49-F238E27FC236}">
                  <a16:creationId xmlns:a16="http://schemas.microsoft.com/office/drawing/2014/main" id="{A14F0F71-EAFF-FA3D-F95B-67AABB6655A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886333" y="2614795"/>
              <a:ext cx="412833" cy="450363"/>
            </a:xfrm>
            <a:prstGeom prst="rect">
              <a:avLst/>
            </a:prstGeom>
          </p:spPr>
        </p:pic>
        <p:sp>
          <p:nvSpPr>
            <p:cNvPr id="2107" name="TextBox 2106">
              <a:extLst>
                <a:ext uri="{FF2B5EF4-FFF2-40B4-BE49-F238E27FC236}">
                  <a16:creationId xmlns:a16="http://schemas.microsoft.com/office/drawing/2014/main" id="{9A933968-C92B-EF65-22D9-C5DA337AC67C}"/>
                </a:ext>
              </a:extLst>
            </p:cNvPr>
            <p:cNvSpPr txBox="1"/>
            <p:nvPr/>
          </p:nvSpPr>
          <p:spPr>
            <a:xfrm>
              <a:off x="8635238" y="3193690"/>
              <a:ext cx="852440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100" dirty="0"/>
                <a:t>VMware HCX</a:t>
              </a:r>
            </a:p>
            <a:p>
              <a:pPr algn="ctr"/>
              <a:r>
                <a:rPr lang="en-US" sz="1100" dirty="0"/>
                <a:t>WO Appliance</a:t>
              </a:r>
            </a:p>
          </p:txBody>
        </p:sp>
        <p:sp>
          <p:nvSpPr>
            <p:cNvPr id="2108" name="TextBox 2107">
              <a:extLst>
                <a:ext uri="{FF2B5EF4-FFF2-40B4-BE49-F238E27FC236}">
                  <a16:creationId xmlns:a16="http://schemas.microsoft.com/office/drawing/2014/main" id="{CBDD54B4-BED0-6BAE-5230-98215C33E610}"/>
                </a:ext>
              </a:extLst>
            </p:cNvPr>
            <p:cNvSpPr txBox="1"/>
            <p:nvPr/>
          </p:nvSpPr>
          <p:spPr>
            <a:xfrm>
              <a:off x="9574005" y="3183972"/>
              <a:ext cx="852440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100" dirty="0"/>
                <a:t>VMware HCX</a:t>
              </a:r>
            </a:p>
            <a:p>
              <a:pPr algn="ctr"/>
              <a:r>
                <a:rPr lang="en-US" sz="1100" dirty="0"/>
                <a:t>IX Appliance</a:t>
              </a:r>
            </a:p>
          </p:txBody>
        </p:sp>
        <p:sp>
          <p:nvSpPr>
            <p:cNvPr id="2109" name="TextBox 2108">
              <a:extLst>
                <a:ext uri="{FF2B5EF4-FFF2-40B4-BE49-F238E27FC236}">
                  <a16:creationId xmlns:a16="http://schemas.microsoft.com/office/drawing/2014/main" id="{4E0C22D0-A9A4-D24A-727C-D4C5DE07BE03}"/>
                </a:ext>
              </a:extLst>
            </p:cNvPr>
            <p:cNvSpPr txBox="1"/>
            <p:nvPr/>
          </p:nvSpPr>
          <p:spPr>
            <a:xfrm>
              <a:off x="8511667" y="2239236"/>
              <a:ext cx="1110881" cy="33855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VMware HCX</a:t>
              </a:r>
            </a:p>
            <a:p>
              <a:pPr marL="0" marR="0" lvl="0" indent="0" algn="ctr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dirty="0">
                  <a:solidFill>
                    <a:srgbClr val="000000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Manager Appliance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cxnSp>
          <p:nvCxnSpPr>
            <p:cNvPr id="2122" name="Connector: Elbow 61">
              <a:extLst>
                <a:ext uri="{FF2B5EF4-FFF2-40B4-BE49-F238E27FC236}">
                  <a16:creationId xmlns:a16="http://schemas.microsoft.com/office/drawing/2014/main" id="{A9465482-7FBE-05D1-8894-17048CDD041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124267" y="2145128"/>
              <a:ext cx="567270" cy="465602"/>
            </a:xfrm>
            <a:prstGeom prst="straightConnector1">
              <a:avLst/>
            </a:prstGeom>
            <a:ln w="31750">
              <a:solidFill>
                <a:srgbClr val="0070C0"/>
              </a:solidFill>
              <a:prstDash val="sysDot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28" name="Connector: Elbow 61">
              <a:extLst>
                <a:ext uri="{FF2B5EF4-FFF2-40B4-BE49-F238E27FC236}">
                  <a16:creationId xmlns:a16="http://schemas.microsoft.com/office/drawing/2014/main" id="{4A454CED-14AD-831B-8703-392154D02910}"/>
                </a:ext>
              </a:extLst>
            </p:cNvPr>
            <p:cNvCxnSpPr>
              <a:cxnSpLocks/>
              <a:endCxn id="2102" idx="3"/>
            </p:cNvCxnSpPr>
            <p:nvPr/>
          </p:nvCxnSpPr>
          <p:spPr>
            <a:xfrm flipH="1" flipV="1">
              <a:off x="9299166" y="1976654"/>
              <a:ext cx="701059" cy="634076"/>
            </a:xfrm>
            <a:prstGeom prst="straightConnector1">
              <a:avLst/>
            </a:prstGeom>
            <a:ln w="31750">
              <a:solidFill>
                <a:srgbClr val="7030A0"/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137" name="Picture 2136" descr="A hexagon with blue and green outline&#10;&#10;Description automatically generated">
              <a:extLst>
                <a:ext uri="{FF2B5EF4-FFF2-40B4-BE49-F238E27FC236}">
                  <a16:creationId xmlns:a16="http://schemas.microsoft.com/office/drawing/2014/main" id="{0FCD4D3A-21FC-5CF5-D175-91E3664B48E5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14342" y="2614493"/>
              <a:ext cx="412834" cy="465602"/>
            </a:xfrm>
            <a:prstGeom prst="rect">
              <a:avLst/>
            </a:prstGeom>
          </p:spPr>
        </p:pic>
        <p:pic>
          <p:nvPicPr>
            <p:cNvPr id="2138" name="Picture 2137" descr="A hexagon with a logo&#10;&#10;Description automatically generated">
              <a:extLst>
                <a:ext uri="{FF2B5EF4-FFF2-40B4-BE49-F238E27FC236}">
                  <a16:creationId xmlns:a16="http://schemas.microsoft.com/office/drawing/2014/main" id="{77DA21BC-D8C1-78FA-3275-192DD44358B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93808" y="2620864"/>
              <a:ext cx="412833" cy="453824"/>
            </a:xfrm>
            <a:prstGeom prst="rect">
              <a:avLst/>
            </a:prstGeom>
          </p:spPr>
        </p:pic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7BF8B6FA-F723-5266-2B69-6A486D547F09}"/>
                </a:ext>
              </a:extLst>
            </p:cNvPr>
            <p:cNvSpPr txBox="1"/>
            <p:nvPr/>
          </p:nvSpPr>
          <p:spPr>
            <a:xfrm>
              <a:off x="2056509" y="1585969"/>
              <a:ext cx="953787" cy="338554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1100" dirty="0">
                  <a:solidFill>
                    <a:srgbClr val="000000"/>
                  </a:solidFill>
                  <a:latin typeface="Segoe UI"/>
                </a:rPr>
                <a:t>Customer Edge</a:t>
              </a:r>
            </a:p>
            <a:p>
              <a:pPr marL="0" marR="0" lvl="0" indent="0" algn="l" defTabSz="914367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egoe UI"/>
                  <a:ea typeface="+mn-ea"/>
                  <a:cs typeface="+mn-cs"/>
                </a:rPr>
                <a:t>Router</a:t>
              </a:r>
            </a:p>
          </p:txBody>
        </p:sp>
        <p:pic>
          <p:nvPicPr>
            <p:cNvPr id="21" name="Graphic 20" descr="Dedicated Microsoft Enterprise Edge Router for Azure VMware Solution infrastructure">
              <a:extLst>
                <a:ext uri="{FF2B5EF4-FFF2-40B4-BE49-F238E27FC236}">
                  <a16:creationId xmlns:a16="http://schemas.microsoft.com/office/drawing/2014/main" id="{BD1880C4-98DE-4F15-96E0-C074D2F1181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biLevel thresh="75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2438499" y="1840318"/>
              <a:ext cx="448567" cy="448567"/>
            </a:xfrm>
            <a:prstGeom prst="rect">
              <a:avLst/>
            </a:prstGeom>
          </p:spPr>
        </p:pic>
        <p:cxnSp>
          <p:nvCxnSpPr>
            <p:cNvPr id="2085" name="Connector: Elbow 61">
              <a:extLst>
                <a:ext uri="{FF2B5EF4-FFF2-40B4-BE49-F238E27FC236}">
                  <a16:creationId xmlns:a16="http://schemas.microsoft.com/office/drawing/2014/main" id="{38E30A56-B996-84F8-3E68-3C30AB2924BF}"/>
                </a:ext>
              </a:extLst>
            </p:cNvPr>
            <p:cNvCxnSpPr>
              <a:cxnSpLocks/>
              <a:stCxn id="2091" idx="3"/>
              <a:endCxn id="2102" idx="1"/>
            </p:cNvCxnSpPr>
            <p:nvPr/>
          </p:nvCxnSpPr>
          <p:spPr>
            <a:xfrm>
              <a:off x="1900717" y="1976654"/>
              <a:ext cx="6985616" cy="0"/>
            </a:xfrm>
            <a:prstGeom prst="straightConnector1">
              <a:avLst/>
            </a:prstGeom>
            <a:ln w="31750">
              <a:solidFill>
                <a:srgbClr val="7030A0"/>
              </a:solidFill>
              <a:prstDash val="sysDot"/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98" name="Connector: Elbow 61">
              <a:extLst>
                <a:ext uri="{FF2B5EF4-FFF2-40B4-BE49-F238E27FC236}">
                  <a16:creationId xmlns:a16="http://schemas.microsoft.com/office/drawing/2014/main" id="{9762456B-CFE1-DC56-298B-F75A86CE0E43}"/>
                </a:ext>
              </a:extLst>
            </p:cNvPr>
            <p:cNvCxnSpPr>
              <a:cxnSpLocks/>
            </p:cNvCxnSpPr>
            <p:nvPr/>
          </p:nvCxnSpPr>
          <p:spPr>
            <a:xfrm>
              <a:off x="2089229" y="2130966"/>
              <a:ext cx="6602308" cy="0"/>
            </a:xfrm>
            <a:prstGeom prst="straightConnector1">
              <a:avLst/>
            </a:prstGeom>
            <a:ln w="31750">
              <a:solidFill>
                <a:srgbClr val="0070C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048" name="Virtual Data Center" descr="Virtual Data Center">
              <a:extLst>
                <a:ext uri="{FF2B5EF4-FFF2-40B4-BE49-F238E27FC236}">
                  <a16:creationId xmlns:a16="http://schemas.microsoft.com/office/drawing/2014/main" id="{3AD21FF1-40DF-4366-04CE-A7E37FFD5F7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p:blipFill>
          <p:spPr>
            <a:xfrm>
              <a:off x="358276" y="884484"/>
              <a:ext cx="457550" cy="457550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C9DD648-2D7A-E6C4-55F1-1EFFCD97F9CD}"/>
                </a:ext>
              </a:extLst>
            </p:cNvPr>
            <p:cNvSpPr txBox="1"/>
            <p:nvPr/>
          </p:nvSpPr>
          <p:spPr>
            <a:xfrm>
              <a:off x="415434" y="4475411"/>
              <a:ext cx="617515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100" dirty="0"/>
                <a:t>Gold SLA</a:t>
              </a:r>
            </a:p>
            <a:p>
              <a:pPr algn="ctr"/>
              <a:r>
                <a:rPr lang="en-US" sz="1100" dirty="0"/>
                <a:t>Apps</a:t>
              </a:r>
            </a:p>
          </p:txBody>
        </p:sp>
        <p:grpSp>
          <p:nvGrpSpPr>
            <p:cNvPr id="49" name="Group 48">
              <a:extLst>
                <a:ext uri="{FF2B5EF4-FFF2-40B4-BE49-F238E27FC236}">
                  <a16:creationId xmlns:a16="http://schemas.microsoft.com/office/drawing/2014/main" id="{EDE9A33A-DDA4-3737-BB68-27EDDB5B415A}"/>
                </a:ext>
              </a:extLst>
            </p:cNvPr>
            <p:cNvGrpSpPr/>
            <p:nvPr/>
          </p:nvGrpSpPr>
          <p:grpSpPr>
            <a:xfrm>
              <a:off x="404555" y="3913184"/>
              <a:ext cx="546062" cy="529251"/>
              <a:chOff x="6382955" y="2755144"/>
              <a:chExt cx="546062" cy="529251"/>
            </a:xfrm>
          </p:grpSpPr>
          <p:pic>
            <p:nvPicPr>
              <p:cNvPr id="50" name="グラフィックス 57" descr="VMware vSphere Microsoft Windows Virtual Machine">
                <a:extLst>
                  <a:ext uri="{FF2B5EF4-FFF2-40B4-BE49-F238E27FC236}">
                    <a16:creationId xmlns:a16="http://schemas.microsoft.com/office/drawing/2014/main" id="{ABBD5FA3-EC90-500E-EDF6-105D97BF499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516184" y="2871562"/>
                <a:ext cx="412833" cy="412833"/>
              </a:xfrm>
              <a:prstGeom prst="rect">
                <a:avLst/>
              </a:prstGeom>
            </p:spPr>
          </p:pic>
          <p:pic>
            <p:nvPicPr>
              <p:cNvPr id="51" name="Graphic 50" descr="Medal with solid fill">
                <a:extLst>
                  <a:ext uri="{FF2B5EF4-FFF2-40B4-BE49-F238E27FC236}">
                    <a16:creationId xmlns:a16="http://schemas.microsoft.com/office/drawing/2014/main" id="{D7303269-FA55-82A6-4AAA-5CFDF2F20C8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6382955" y="2755144"/>
                <a:ext cx="341057" cy="341057"/>
              </a:xfrm>
              <a:prstGeom prst="rect">
                <a:avLst/>
              </a:prstGeom>
            </p:spPr>
          </p:pic>
        </p:grp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981F9B9-DDDE-9F3A-97CA-E5E5D3677C15}"/>
                </a:ext>
              </a:extLst>
            </p:cNvPr>
            <p:cNvSpPr txBox="1"/>
            <p:nvPr/>
          </p:nvSpPr>
          <p:spPr>
            <a:xfrm>
              <a:off x="1355080" y="4451531"/>
              <a:ext cx="635342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100" dirty="0"/>
                <a:t>Silver SLA</a:t>
              </a:r>
            </a:p>
            <a:p>
              <a:pPr algn="ctr"/>
              <a:r>
                <a:rPr lang="en-US" sz="1100" dirty="0"/>
                <a:t>Apps</a:t>
              </a:r>
            </a:p>
          </p:txBody>
        </p: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C1B8B11D-00B2-8351-EDC6-632DB9831BAC}"/>
                </a:ext>
              </a:extLst>
            </p:cNvPr>
            <p:cNvGrpSpPr/>
            <p:nvPr/>
          </p:nvGrpSpPr>
          <p:grpSpPr>
            <a:xfrm>
              <a:off x="1333513" y="3913637"/>
              <a:ext cx="543086" cy="512171"/>
              <a:chOff x="7281403" y="2775156"/>
              <a:chExt cx="543086" cy="512171"/>
            </a:xfrm>
          </p:grpSpPr>
          <p:pic>
            <p:nvPicPr>
              <p:cNvPr id="54" name="グラフィックス 57" descr="VMware vSphere Microsoft Windows Virtual Machine">
                <a:extLst>
                  <a:ext uri="{FF2B5EF4-FFF2-40B4-BE49-F238E27FC236}">
                    <a16:creationId xmlns:a16="http://schemas.microsoft.com/office/drawing/2014/main" id="{2C05CD90-3207-57DD-F5BB-415276247E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7411656" y="2874494"/>
                <a:ext cx="412833" cy="412833"/>
              </a:xfrm>
              <a:prstGeom prst="rect">
                <a:avLst/>
              </a:prstGeom>
            </p:spPr>
          </p:pic>
          <p:pic>
            <p:nvPicPr>
              <p:cNvPr id="55" name="Graphic 54" descr="Medal with solid fill">
                <a:extLst>
                  <a:ext uri="{FF2B5EF4-FFF2-40B4-BE49-F238E27FC236}">
                    <a16:creationId xmlns:a16="http://schemas.microsoft.com/office/drawing/2014/main" id="{13EEC1E5-C66D-9BD8-BFF0-25DEA81021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7281403" y="2775156"/>
                <a:ext cx="341057" cy="341057"/>
              </a:xfrm>
              <a:prstGeom prst="rect">
                <a:avLst/>
              </a:prstGeom>
            </p:spPr>
          </p:pic>
        </p:grpSp>
        <p:sp>
          <p:nvSpPr>
            <p:cNvPr id="2049" name="TextBox 2048">
              <a:extLst>
                <a:ext uri="{FF2B5EF4-FFF2-40B4-BE49-F238E27FC236}">
                  <a16:creationId xmlns:a16="http://schemas.microsoft.com/office/drawing/2014/main" id="{C2C2CF56-2292-E486-B1C5-35E3F5167923}"/>
                </a:ext>
              </a:extLst>
            </p:cNvPr>
            <p:cNvSpPr txBox="1"/>
            <p:nvPr/>
          </p:nvSpPr>
          <p:spPr>
            <a:xfrm>
              <a:off x="2200150" y="4471576"/>
              <a:ext cx="707106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100" dirty="0"/>
                <a:t>Bronze SLA</a:t>
              </a:r>
            </a:p>
            <a:p>
              <a:pPr algn="ctr"/>
              <a:r>
                <a:rPr lang="en-US" sz="1100" dirty="0"/>
                <a:t>Apps</a:t>
              </a:r>
            </a:p>
          </p:txBody>
        </p:sp>
        <p:grpSp>
          <p:nvGrpSpPr>
            <p:cNvPr id="2050" name="Group 2049">
              <a:extLst>
                <a:ext uri="{FF2B5EF4-FFF2-40B4-BE49-F238E27FC236}">
                  <a16:creationId xmlns:a16="http://schemas.microsoft.com/office/drawing/2014/main" id="{5DD49346-A1DF-C49E-C664-84675265AF56}"/>
                </a:ext>
              </a:extLst>
            </p:cNvPr>
            <p:cNvGrpSpPr/>
            <p:nvPr/>
          </p:nvGrpSpPr>
          <p:grpSpPr>
            <a:xfrm>
              <a:off x="2217033" y="3919039"/>
              <a:ext cx="543087" cy="537894"/>
              <a:chOff x="9435923" y="3630075"/>
              <a:chExt cx="543087" cy="537894"/>
            </a:xfrm>
          </p:grpSpPr>
          <p:pic>
            <p:nvPicPr>
              <p:cNvPr id="2051" name="グラフィックス 57" descr="VMware vSphere Microsoft Windows Virtual Machine">
                <a:extLst>
                  <a:ext uri="{FF2B5EF4-FFF2-40B4-BE49-F238E27FC236}">
                    <a16:creationId xmlns:a16="http://schemas.microsoft.com/office/drawing/2014/main" id="{D2319C7F-9A02-CCC8-683B-D2D9E4625AA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9566177" y="3755136"/>
                <a:ext cx="412833" cy="412833"/>
              </a:xfrm>
              <a:prstGeom prst="rect">
                <a:avLst/>
              </a:prstGeom>
            </p:spPr>
          </p:pic>
          <p:pic>
            <p:nvPicPr>
              <p:cNvPr id="2052" name="Graphic 2051" descr="Medal with solid fill">
                <a:extLst>
                  <a:ext uri="{FF2B5EF4-FFF2-40B4-BE49-F238E27FC236}">
                    <a16:creationId xmlns:a16="http://schemas.microsoft.com/office/drawing/2014/main" id="{06954A83-1710-D5DE-A4BB-E236DE30EB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9435923" y="3630075"/>
                <a:ext cx="341057" cy="341057"/>
              </a:xfrm>
              <a:prstGeom prst="rect">
                <a:avLst/>
              </a:prstGeom>
            </p:spPr>
          </p:pic>
        </p:grpSp>
        <p:sp>
          <p:nvSpPr>
            <p:cNvPr id="2053" name="TextBox 2052">
              <a:extLst>
                <a:ext uri="{FF2B5EF4-FFF2-40B4-BE49-F238E27FC236}">
                  <a16:creationId xmlns:a16="http://schemas.microsoft.com/office/drawing/2014/main" id="{056851B0-BEAF-C5A6-2C55-2262AA634AC6}"/>
                </a:ext>
              </a:extLst>
            </p:cNvPr>
            <p:cNvSpPr txBox="1"/>
            <p:nvPr/>
          </p:nvSpPr>
          <p:spPr>
            <a:xfrm>
              <a:off x="4487709" y="3031902"/>
              <a:ext cx="1853922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100" dirty="0"/>
                <a:t>VMware HCX Migration with Layer 2 Network Extension</a:t>
              </a:r>
            </a:p>
          </p:txBody>
        </p:sp>
        <p:sp>
          <p:nvSpPr>
            <p:cNvPr id="2055" name="Rectangle 2054">
              <a:extLst>
                <a:ext uri="{FF2B5EF4-FFF2-40B4-BE49-F238E27FC236}">
                  <a16:creationId xmlns:a16="http://schemas.microsoft.com/office/drawing/2014/main" id="{D71DADA3-5586-FF2E-194F-13AED82B65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358276" y="3810594"/>
              <a:ext cx="2606477" cy="1086570"/>
            </a:xfrm>
            <a:prstGeom prst="rect">
              <a:avLst/>
            </a:prstGeom>
            <a:noFill/>
            <a:ln w="19050">
              <a:solidFill>
                <a:srgbClr val="8661C5"/>
              </a:solidFill>
              <a:prstDash val="sysDash"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  <p:cxnSp>
          <p:nvCxnSpPr>
            <p:cNvPr id="2056" name="Connector: Elbow 61">
              <a:extLst>
                <a:ext uri="{FF2B5EF4-FFF2-40B4-BE49-F238E27FC236}">
                  <a16:creationId xmlns:a16="http://schemas.microsoft.com/office/drawing/2014/main" id="{495AB082-2909-DAE6-EB25-F52C8B4E4BA3}"/>
                </a:ext>
              </a:extLst>
            </p:cNvPr>
            <p:cNvCxnSpPr>
              <a:cxnSpLocks/>
              <a:stCxn id="2055" idx="3"/>
            </p:cNvCxnSpPr>
            <p:nvPr/>
          </p:nvCxnSpPr>
          <p:spPr>
            <a:xfrm flipV="1">
              <a:off x="2964753" y="2940485"/>
              <a:ext cx="253751" cy="1413394"/>
            </a:xfrm>
            <a:prstGeom prst="straightConnector1">
              <a:avLst/>
            </a:prstGeom>
            <a:ln w="31750">
              <a:solidFill>
                <a:srgbClr val="7030A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2" name="Connector: Elbow 61">
              <a:extLst>
                <a:ext uri="{FF2B5EF4-FFF2-40B4-BE49-F238E27FC236}">
                  <a16:creationId xmlns:a16="http://schemas.microsoft.com/office/drawing/2014/main" id="{319C11D1-C54F-A27F-0325-617ACC6B3084}"/>
                </a:ext>
              </a:extLst>
            </p:cNvPr>
            <p:cNvCxnSpPr>
              <a:cxnSpLocks/>
            </p:cNvCxnSpPr>
            <p:nvPr/>
          </p:nvCxnSpPr>
          <p:spPr>
            <a:xfrm>
              <a:off x="3218504" y="2940485"/>
              <a:ext cx="4266514" cy="0"/>
            </a:xfrm>
            <a:prstGeom prst="straightConnector1">
              <a:avLst/>
            </a:prstGeom>
            <a:ln w="31750">
              <a:solidFill>
                <a:srgbClr val="7030A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79" name="Connector: Elbow 61">
              <a:extLst>
                <a:ext uri="{FF2B5EF4-FFF2-40B4-BE49-F238E27FC236}">
                  <a16:creationId xmlns:a16="http://schemas.microsoft.com/office/drawing/2014/main" id="{0D16A3D7-32B7-B78B-6670-E9E7B1B1847F}"/>
                </a:ext>
              </a:extLst>
            </p:cNvPr>
            <p:cNvCxnSpPr>
              <a:cxnSpLocks/>
              <a:endCxn id="2123" idx="1"/>
            </p:cNvCxnSpPr>
            <p:nvPr/>
          </p:nvCxnSpPr>
          <p:spPr>
            <a:xfrm>
              <a:off x="7485018" y="2940065"/>
              <a:ext cx="265712" cy="1411131"/>
            </a:xfrm>
            <a:prstGeom prst="straightConnector1">
              <a:avLst/>
            </a:prstGeom>
            <a:ln w="31750">
              <a:solidFill>
                <a:srgbClr val="7030A0"/>
              </a:solidFill>
              <a:prstDash val="sysDot"/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00" name="TextBox 2099">
              <a:extLst>
                <a:ext uri="{FF2B5EF4-FFF2-40B4-BE49-F238E27FC236}">
                  <a16:creationId xmlns:a16="http://schemas.microsoft.com/office/drawing/2014/main" id="{DD1FB0FE-87C9-D468-3D8D-56456A2D836A}"/>
                </a:ext>
              </a:extLst>
            </p:cNvPr>
            <p:cNvSpPr txBox="1"/>
            <p:nvPr/>
          </p:nvSpPr>
          <p:spPr>
            <a:xfrm>
              <a:off x="7807888" y="4472728"/>
              <a:ext cx="617515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100" dirty="0"/>
                <a:t>Gold SLA</a:t>
              </a:r>
            </a:p>
            <a:p>
              <a:pPr algn="ctr"/>
              <a:r>
                <a:rPr lang="en-US" sz="1100" dirty="0"/>
                <a:t>Apps</a:t>
              </a:r>
            </a:p>
          </p:txBody>
        </p:sp>
        <p:grpSp>
          <p:nvGrpSpPr>
            <p:cNvPr id="2104" name="Group 2103">
              <a:extLst>
                <a:ext uri="{FF2B5EF4-FFF2-40B4-BE49-F238E27FC236}">
                  <a16:creationId xmlns:a16="http://schemas.microsoft.com/office/drawing/2014/main" id="{A84D0227-8544-68A4-1071-0CCE58DB21CB}"/>
                </a:ext>
              </a:extLst>
            </p:cNvPr>
            <p:cNvGrpSpPr/>
            <p:nvPr/>
          </p:nvGrpSpPr>
          <p:grpSpPr>
            <a:xfrm>
              <a:off x="7797009" y="3910501"/>
              <a:ext cx="546062" cy="529251"/>
              <a:chOff x="6382955" y="2755144"/>
              <a:chExt cx="546062" cy="529251"/>
            </a:xfrm>
          </p:grpSpPr>
          <p:pic>
            <p:nvPicPr>
              <p:cNvPr id="2106" name="グラフィックス 57" descr="VMware vSphere Microsoft Windows Virtual Machine">
                <a:extLst>
                  <a:ext uri="{FF2B5EF4-FFF2-40B4-BE49-F238E27FC236}">
                    <a16:creationId xmlns:a16="http://schemas.microsoft.com/office/drawing/2014/main" id="{80F4AD14-E364-9FEE-6001-3F9A5B6B979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6516184" y="2871562"/>
                <a:ext cx="412833" cy="412833"/>
              </a:xfrm>
              <a:prstGeom prst="rect">
                <a:avLst/>
              </a:prstGeom>
            </p:spPr>
          </p:pic>
          <p:pic>
            <p:nvPicPr>
              <p:cNvPr id="2110" name="Graphic 2109" descr="Medal with solid fill">
                <a:extLst>
                  <a:ext uri="{FF2B5EF4-FFF2-40B4-BE49-F238E27FC236}">
                    <a16:creationId xmlns:a16="http://schemas.microsoft.com/office/drawing/2014/main" id="{716D348F-5974-C101-0E2D-20AA75A5768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p:blipFill>
            <p:spPr>
              <a:xfrm>
                <a:off x="6382955" y="2755144"/>
                <a:ext cx="341057" cy="341057"/>
              </a:xfrm>
              <a:prstGeom prst="rect">
                <a:avLst/>
              </a:prstGeom>
            </p:spPr>
          </p:pic>
        </p:grpSp>
        <p:sp>
          <p:nvSpPr>
            <p:cNvPr id="2112" name="TextBox 2111">
              <a:extLst>
                <a:ext uri="{FF2B5EF4-FFF2-40B4-BE49-F238E27FC236}">
                  <a16:creationId xmlns:a16="http://schemas.microsoft.com/office/drawing/2014/main" id="{B84EA97C-BD7D-3093-D8C5-8BF9AC4F0CD5}"/>
                </a:ext>
              </a:extLst>
            </p:cNvPr>
            <p:cNvSpPr txBox="1"/>
            <p:nvPr/>
          </p:nvSpPr>
          <p:spPr>
            <a:xfrm>
              <a:off x="8747534" y="4448848"/>
              <a:ext cx="635342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100" dirty="0"/>
                <a:t>Silver SLA</a:t>
              </a:r>
            </a:p>
            <a:p>
              <a:pPr algn="ctr"/>
              <a:r>
                <a:rPr lang="en-US" sz="1100" dirty="0"/>
                <a:t>Apps</a:t>
              </a:r>
            </a:p>
          </p:txBody>
        </p:sp>
        <p:grpSp>
          <p:nvGrpSpPr>
            <p:cNvPr id="2113" name="Group 2112">
              <a:extLst>
                <a:ext uri="{FF2B5EF4-FFF2-40B4-BE49-F238E27FC236}">
                  <a16:creationId xmlns:a16="http://schemas.microsoft.com/office/drawing/2014/main" id="{EED153F9-E24B-DD12-D74A-EB611449A5ED}"/>
                </a:ext>
              </a:extLst>
            </p:cNvPr>
            <p:cNvGrpSpPr/>
            <p:nvPr/>
          </p:nvGrpSpPr>
          <p:grpSpPr>
            <a:xfrm>
              <a:off x="8725967" y="3910954"/>
              <a:ext cx="543086" cy="512171"/>
              <a:chOff x="7281403" y="2775156"/>
              <a:chExt cx="543086" cy="512171"/>
            </a:xfrm>
          </p:grpSpPr>
          <p:pic>
            <p:nvPicPr>
              <p:cNvPr id="2114" name="グラフィックス 57" descr="VMware vSphere Microsoft Windows Virtual Machine">
                <a:extLst>
                  <a:ext uri="{FF2B5EF4-FFF2-40B4-BE49-F238E27FC236}">
                    <a16:creationId xmlns:a16="http://schemas.microsoft.com/office/drawing/2014/main" id="{B47738FB-C6BC-A8B1-B5A4-CF37ED36B2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7411656" y="2874494"/>
                <a:ext cx="412833" cy="412833"/>
              </a:xfrm>
              <a:prstGeom prst="rect">
                <a:avLst/>
              </a:prstGeom>
            </p:spPr>
          </p:pic>
          <p:pic>
            <p:nvPicPr>
              <p:cNvPr id="2115" name="Graphic 2114" descr="Medal with solid fill">
                <a:extLst>
                  <a:ext uri="{FF2B5EF4-FFF2-40B4-BE49-F238E27FC236}">
                    <a16:creationId xmlns:a16="http://schemas.microsoft.com/office/drawing/2014/main" id="{90B44C40-40F5-C702-497A-39FBD1F6C80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3"/>
                  </a:ext>
                </a:extLst>
              </a:blip>
              <a:stretch>
                <a:fillRect/>
              </a:stretch>
            </p:blipFill>
            <p:spPr>
              <a:xfrm>
                <a:off x="7281403" y="2775156"/>
                <a:ext cx="341057" cy="341057"/>
              </a:xfrm>
              <a:prstGeom prst="rect">
                <a:avLst/>
              </a:prstGeom>
            </p:spPr>
          </p:pic>
        </p:grpSp>
        <p:sp>
          <p:nvSpPr>
            <p:cNvPr id="2116" name="TextBox 2115">
              <a:extLst>
                <a:ext uri="{FF2B5EF4-FFF2-40B4-BE49-F238E27FC236}">
                  <a16:creationId xmlns:a16="http://schemas.microsoft.com/office/drawing/2014/main" id="{3266921D-5E3D-79AB-A0BB-3745B18E2739}"/>
                </a:ext>
              </a:extLst>
            </p:cNvPr>
            <p:cNvSpPr txBox="1"/>
            <p:nvPr/>
          </p:nvSpPr>
          <p:spPr>
            <a:xfrm>
              <a:off x="9592604" y="4468893"/>
              <a:ext cx="707106" cy="33855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sz="1100" dirty="0"/>
                <a:t>Bronze SLA</a:t>
              </a:r>
            </a:p>
            <a:p>
              <a:pPr algn="ctr"/>
              <a:r>
                <a:rPr lang="en-US" sz="1100" dirty="0"/>
                <a:t>Apps</a:t>
              </a:r>
            </a:p>
          </p:txBody>
        </p:sp>
        <p:grpSp>
          <p:nvGrpSpPr>
            <p:cNvPr id="2117" name="Group 2116">
              <a:extLst>
                <a:ext uri="{FF2B5EF4-FFF2-40B4-BE49-F238E27FC236}">
                  <a16:creationId xmlns:a16="http://schemas.microsoft.com/office/drawing/2014/main" id="{2DDA56D1-DE35-33A0-E83E-A5530B176627}"/>
                </a:ext>
              </a:extLst>
            </p:cNvPr>
            <p:cNvGrpSpPr/>
            <p:nvPr/>
          </p:nvGrpSpPr>
          <p:grpSpPr>
            <a:xfrm>
              <a:off x="9609487" y="3916356"/>
              <a:ext cx="543087" cy="537894"/>
              <a:chOff x="9435923" y="3630075"/>
              <a:chExt cx="543087" cy="537894"/>
            </a:xfrm>
          </p:grpSpPr>
          <p:pic>
            <p:nvPicPr>
              <p:cNvPr id="2118" name="グラフィックス 57" descr="VMware vSphere Microsoft Windows Virtual Machine">
                <a:extLst>
                  <a:ext uri="{FF2B5EF4-FFF2-40B4-BE49-F238E27FC236}">
                    <a16:creationId xmlns:a16="http://schemas.microsoft.com/office/drawing/2014/main" id="{D381EDA5-EC90-02FE-A8A3-0DC6F852F1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p:blipFill>
            <p:spPr>
              <a:xfrm>
                <a:off x="9566177" y="3755136"/>
                <a:ext cx="412833" cy="412833"/>
              </a:xfrm>
              <a:prstGeom prst="rect">
                <a:avLst/>
              </a:prstGeom>
            </p:spPr>
          </p:pic>
          <p:pic>
            <p:nvPicPr>
              <p:cNvPr id="2119" name="Graphic 2118" descr="Medal with solid fill">
                <a:extLst>
                  <a:ext uri="{FF2B5EF4-FFF2-40B4-BE49-F238E27FC236}">
                    <a16:creationId xmlns:a16="http://schemas.microsoft.com/office/drawing/2014/main" id="{256DA992-CE98-0FBA-B39B-5CB31EA8F75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p:blipFill>
            <p:spPr>
              <a:xfrm>
                <a:off x="9435923" y="3630075"/>
                <a:ext cx="341057" cy="341057"/>
              </a:xfrm>
              <a:prstGeom prst="rect">
                <a:avLst/>
              </a:prstGeom>
            </p:spPr>
          </p:pic>
        </p:grpSp>
        <p:sp>
          <p:nvSpPr>
            <p:cNvPr id="2123" name="Rectangle 2122">
              <a:extLst>
                <a:ext uri="{FF2B5EF4-FFF2-40B4-BE49-F238E27FC236}">
                  <a16:creationId xmlns:a16="http://schemas.microsoft.com/office/drawing/2014/main" id="{28BFE4A7-904F-B650-D322-08C60FA7357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/>
          </p:nvSpPr>
          <p:spPr bwMode="auto">
            <a:xfrm>
              <a:off x="7750730" y="3807911"/>
              <a:ext cx="2606477" cy="1086570"/>
            </a:xfrm>
            <a:prstGeom prst="rect">
              <a:avLst/>
            </a:prstGeom>
            <a:solidFill>
              <a:srgbClr val="7030A0">
                <a:alpha val="20000"/>
              </a:srgbClr>
            </a:solidFill>
            <a:ln w="19050">
              <a:solidFill>
                <a:srgbClr val="8661C5"/>
              </a:solidFill>
              <a:prstDash val="sysDash"/>
              <a:headEnd type="none" w="med" len="med"/>
              <a:tailEnd type="none" w="med" len="med"/>
            </a:ln>
            <a:effectLst/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 defTabSz="932472" fontAlgn="base">
                <a:spcBef>
                  <a:spcPct val="0"/>
                </a:spcBef>
                <a:spcAft>
                  <a:spcPct val="0"/>
                </a:spcAft>
              </a:pPr>
              <a:endParaRPr lang="en-US" sz="2000" dirty="0" err="1">
                <a:solidFill>
                  <a:srgbClr val="FFFFFF"/>
                </a:solidFill>
                <a:ea typeface="Segoe UI" pitchFamily="34" charset="0"/>
                <a:cs typeface="Segoe UI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9269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Virtual Data Center" descr="Virtual Data Center">
            <a:extLst>
              <a:ext uri="{FF2B5EF4-FFF2-40B4-BE49-F238E27FC236}">
                <a16:creationId xmlns:a16="http://schemas.microsoft.com/office/drawing/2014/main" id="{022E7BAB-5D7A-B19B-8A3E-0A7549B968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0208" y="3300079"/>
            <a:ext cx="457550" cy="45755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587C638-9CB7-ECC0-2618-758756EC8AE0}"/>
              </a:ext>
            </a:extLst>
          </p:cNvPr>
          <p:cNvCxnSpPr/>
          <p:nvPr/>
        </p:nvCxnSpPr>
        <p:spPr>
          <a:xfrm>
            <a:off x="1339274" y="3528854"/>
            <a:ext cx="1533236" cy="0"/>
          </a:xfrm>
          <a:prstGeom prst="straightConnector1">
            <a:avLst/>
          </a:prstGeom>
          <a:ln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Virtual Data Center" descr="Virtual Data Center">
            <a:extLst>
              <a:ext uri="{FF2B5EF4-FFF2-40B4-BE49-F238E27FC236}">
                <a16:creationId xmlns:a16="http://schemas.microsoft.com/office/drawing/2014/main" id="{022E7BAB-5D7A-B19B-8A3E-0A7549B968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13189" y="3265443"/>
            <a:ext cx="457550" cy="457550"/>
          </a:xfrm>
          <a:prstGeom prst="rect">
            <a:avLst/>
          </a:prstGeom>
        </p:spPr>
      </p:pic>
      <p:pic>
        <p:nvPicPr>
          <p:cNvPr id="10" name="Graphic 80" descr="Azure VMware Solution Private Cloud">
            <a:extLst>
              <a:ext uri="{FF2B5EF4-FFF2-40B4-BE49-F238E27FC236}">
                <a16:creationId xmlns:a16="http://schemas.microsoft.com/office/drawing/2014/main" id="{3182B585-6AA0-49F4-618B-EA44F7D99F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92623" y="2295606"/>
            <a:ext cx="412833" cy="412833"/>
          </a:xfrm>
          <a:prstGeom prst="rect">
            <a:avLst/>
          </a:prstGeom>
        </p:spPr>
      </p:pic>
      <p:pic>
        <p:nvPicPr>
          <p:cNvPr id="11" name="Graphic 80" descr="Azure VMware Solution Private Cloud">
            <a:extLst>
              <a:ext uri="{FF2B5EF4-FFF2-40B4-BE49-F238E27FC236}">
                <a16:creationId xmlns:a16="http://schemas.microsoft.com/office/drawing/2014/main" id="{3182B585-6AA0-49F4-618B-EA44F7D99F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3478" y="3747879"/>
            <a:ext cx="412833" cy="41283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132139-78EF-A6B6-7A4B-E48BF51A67EF}"/>
              </a:ext>
            </a:extLst>
          </p:cNvPr>
          <p:cNvCxnSpPr/>
          <p:nvPr/>
        </p:nvCxnSpPr>
        <p:spPr>
          <a:xfrm flipV="1">
            <a:off x="3470739" y="2498547"/>
            <a:ext cx="2080316" cy="90942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79453E0-F900-95D8-A946-156D4E59B2FB}"/>
              </a:ext>
            </a:extLst>
          </p:cNvPr>
          <p:cNvCxnSpPr>
            <a:cxnSpLocks/>
          </p:cNvCxnSpPr>
          <p:nvPr/>
        </p:nvCxnSpPr>
        <p:spPr>
          <a:xfrm>
            <a:off x="3406659" y="3723762"/>
            <a:ext cx="1464403" cy="3149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4F770BE-9F21-F3F2-5A2C-E2044A9484A3}"/>
              </a:ext>
            </a:extLst>
          </p:cNvPr>
          <p:cNvCxnSpPr>
            <a:cxnSpLocks/>
          </p:cNvCxnSpPr>
          <p:nvPr/>
        </p:nvCxnSpPr>
        <p:spPr>
          <a:xfrm>
            <a:off x="6063624" y="2603042"/>
            <a:ext cx="3186544" cy="0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1FD17AD-E2CD-1F2A-1E6F-BE234424A519}"/>
              </a:ext>
            </a:extLst>
          </p:cNvPr>
          <p:cNvCxnSpPr>
            <a:cxnSpLocks/>
          </p:cNvCxnSpPr>
          <p:nvPr/>
        </p:nvCxnSpPr>
        <p:spPr>
          <a:xfrm>
            <a:off x="5398656" y="3964045"/>
            <a:ext cx="2784763" cy="1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FA4818E-478F-C470-9CF7-6F9E182D7286}"/>
              </a:ext>
            </a:extLst>
          </p:cNvPr>
          <p:cNvSpPr txBox="1"/>
          <p:nvPr/>
        </p:nvSpPr>
        <p:spPr>
          <a:xfrm>
            <a:off x="1473424" y="3076338"/>
            <a:ext cx="1154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VLAN 100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26ED45-5EDE-01E7-EE6D-E45F750EBC77}"/>
              </a:ext>
            </a:extLst>
          </p:cNvPr>
          <p:cNvSpPr txBox="1"/>
          <p:nvPr/>
        </p:nvSpPr>
        <p:spPr>
          <a:xfrm>
            <a:off x="923450" y="3697592"/>
            <a:ext cx="2367956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On-Premises Site 1 originates VLAN 100</a:t>
            </a:r>
          </a:p>
          <a:p>
            <a:r>
              <a:rPr lang="en-US" sz="900" dirty="0">
                <a:solidFill>
                  <a:schemeClr val="accent1"/>
                </a:solidFill>
              </a:rPr>
              <a:t>“V-Topology”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382B9FD-5E9B-9AB2-8300-52765E72694D}"/>
              </a:ext>
            </a:extLst>
          </p:cNvPr>
          <p:cNvCxnSpPr/>
          <p:nvPr/>
        </p:nvCxnSpPr>
        <p:spPr>
          <a:xfrm>
            <a:off x="5477166" y="3783089"/>
            <a:ext cx="1533236" cy="0"/>
          </a:xfrm>
          <a:prstGeom prst="straightConnector1">
            <a:avLst/>
          </a:prstGeom>
          <a:ln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0B1CC1F-77ED-CC4B-F30C-86AEB4AD320C}"/>
              </a:ext>
            </a:extLst>
          </p:cNvPr>
          <p:cNvCxnSpPr/>
          <p:nvPr/>
        </p:nvCxnSpPr>
        <p:spPr>
          <a:xfrm>
            <a:off x="6359240" y="2371031"/>
            <a:ext cx="1533236" cy="0"/>
          </a:xfrm>
          <a:prstGeom prst="straightConnector1">
            <a:avLst/>
          </a:prstGeom>
          <a:ln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37696D2-4B29-5BEA-8857-FEC4CDCA0DD4}"/>
              </a:ext>
            </a:extLst>
          </p:cNvPr>
          <p:cNvSpPr txBox="1"/>
          <p:nvPr/>
        </p:nvSpPr>
        <p:spPr>
          <a:xfrm>
            <a:off x="6530943" y="2047529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VNI 100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A70199-F120-DCC7-433B-AD7A6D5F2BD6}"/>
              </a:ext>
            </a:extLst>
          </p:cNvPr>
          <p:cNvSpPr txBox="1"/>
          <p:nvPr/>
        </p:nvSpPr>
        <p:spPr>
          <a:xfrm>
            <a:off x="5598530" y="3494218"/>
            <a:ext cx="1151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VNI 100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B81A4D-5E3B-AF65-1669-50FC7E9E3676}"/>
              </a:ext>
            </a:extLst>
          </p:cNvPr>
          <p:cNvSpPr txBox="1"/>
          <p:nvPr/>
        </p:nvSpPr>
        <p:spPr>
          <a:xfrm>
            <a:off x="7448504" y="3524448"/>
            <a:ext cx="734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Site 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A4513D-8D53-6E9C-07FE-E71095136D4A}"/>
              </a:ext>
            </a:extLst>
          </p:cNvPr>
          <p:cNvSpPr txBox="1"/>
          <p:nvPr/>
        </p:nvSpPr>
        <p:spPr>
          <a:xfrm>
            <a:off x="8543637" y="2001699"/>
            <a:ext cx="10067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Site 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E031AB-5308-3986-9AA8-C1ECB6A78452}"/>
              </a:ext>
            </a:extLst>
          </p:cNvPr>
          <p:cNvSpPr txBox="1"/>
          <p:nvPr/>
        </p:nvSpPr>
        <p:spPr>
          <a:xfrm>
            <a:off x="4853404" y="3094919"/>
            <a:ext cx="4164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On-Premises VM network (VLAN 100) extended to Site 2 (Azure VMware Solution) </a:t>
            </a:r>
          </a:p>
          <a:p>
            <a:r>
              <a:rPr lang="en-US" sz="900" dirty="0"/>
              <a:t>On-Premises VM network (VLAN 100) extended to Site 3 (Azure VMware Solution)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1ABE14B-385D-2F55-14C1-445EB05E7ABC}"/>
              </a:ext>
            </a:extLst>
          </p:cNvPr>
          <p:cNvCxnSpPr>
            <a:cxnSpLocks/>
          </p:cNvCxnSpPr>
          <p:nvPr/>
        </p:nvCxnSpPr>
        <p:spPr>
          <a:xfrm flipV="1">
            <a:off x="3512307" y="2607253"/>
            <a:ext cx="2038748" cy="883023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EFA5188-E4A1-30F4-4044-72A1DEF979E5}"/>
              </a:ext>
            </a:extLst>
          </p:cNvPr>
          <p:cNvCxnSpPr>
            <a:cxnSpLocks/>
          </p:cNvCxnSpPr>
          <p:nvPr/>
        </p:nvCxnSpPr>
        <p:spPr>
          <a:xfrm>
            <a:off x="3406659" y="3622801"/>
            <a:ext cx="1446745" cy="276368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7AE0DC5A-6962-69DD-1DAD-46613519AB3B}"/>
              </a:ext>
            </a:extLst>
          </p:cNvPr>
          <p:cNvSpPr txBox="1"/>
          <p:nvPr/>
        </p:nvSpPr>
        <p:spPr>
          <a:xfrm rot="928431">
            <a:off x="3250469" y="3751877"/>
            <a:ext cx="4619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NE-1I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9C53AE0-7DB6-A164-E379-2B0BCF86E231}"/>
              </a:ext>
            </a:extLst>
          </p:cNvPr>
          <p:cNvSpPr txBox="1"/>
          <p:nvPr/>
        </p:nvSpPr>
        <p:spPr>
          <a:xfrm rot="818723">
            <a:off x="4355936" y="4033529"/>
            <a:ext cx="643598" cy="239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NE-1R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7DDA325-58BB-2640-63E5-9141FF25B123}"/>
              </a:ext>
            </a:extLst>
          </p:cNvPr>
          <p:cNvSpPr txBox="1"/>
          <p:nvPr/>
        </p:nvSpPr>
        <p:spPr>
          <a:xfrm rot="20100628">
            <a:off x="3470739" y="3033613"/>
            <a:ext cx="4619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NE-2I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9C1C982-AC4A-E11F-B4FE-A2FE2F60E444}"/>
              </a:ext>
            </a:extLst>
          </p:cNvPr>
          <p:cNvSpPr txBox="1"/>
          <p:nvPr/>
        </p:nvSpPr>
        <p:spPr>
          <a:xfrm rot="20146223">
            <a:off x="4908542" y="2411941"/>
            <a:ext cx="5982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NE-2R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C6422D6-4979-CFAE-C385-DA47E88E1502}"/>
              </a:ext>
            </a:extLst>
          </p:cNvPr>
          <p:cNvSpPr txBox="1"/>
          <p:nvPr/>
        </p:nvSpPr>
        <p:spPr>
          <a:xfrm>
            <a:off x="5224871" y="2676349"/>
            <a:ext cx="235833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Azure VMware Solution Private Cloud B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FDC251-A7FA-613A-DEB0-BFE4742DB01A}"/>
              </a:ext>
            </a:extLst>
          </p:cNvPr>
          <p:cNvSpPr txBox="1"/>
          <p:nvPr/>
        </p:nvSpPr>
        <p:spPr>
          <a:xfrm>
            <a:off x="4749904" y="4096019"/>
            <a:ext cx="2317676" cy="2554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Azure VMware Solution Private Cloud 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F3FEC4-38CA-A151-17B0-F2ACAA01C238}"/>
              </a:ext>
            </a:extLst>
          </p:cNvPr>
          <p:cNvSpPr txBox="1"/>
          <p:nvPr/>
        </p:nvSpPr>
        <p:spPr>
          <a:xfrm>
            <a:off x="523271" y="2816399"/>
            <a:ext cx="734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Site 1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68BF87B-8265-09A8-0FBE-5D35B97C79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417409" y="1533363"/>
            <a:ext cx="5132992" cy="3236346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" name="Picture 13" descr="Microsoft Azure - Wikipedia">
            <a:extLst>
              <a:ext uri="{FF2B5EF4-FFF2-40B4-BE49-F238E27FC236}">
                <a16:creationId xmlns:a16="http://schemas.microsoft.com/office/drawing/2014/main" id="{5F37E524-D822-EF4A-F278-A26E5C0CAA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6562" y="1661227"/>
            <a:ext cx="412834" cy="412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19220D0-2E51-4A40-90F5-AD95AC645810}"/>
              </a:ext>
            </a:extLst>
          </p:cNvPr>
          <p:cNvSpPr txBox="1"/>
          <p:nvPr/>
        </p:nvSpPr>
        <p:spPr>
          <a:xfrm>
            <a:off x="5013232" y="1783005"/>
            <a:ext cx="103073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Microsoft Azure</a:t>
            </a:r>
          </a:p>
        </p:txBody>
      </p:sp>
    </p:spTree>
    <p:extLst>
      <p:ext uri="{BB962C8B-B14F-4D97-AF65-F5344CB8AC3E}">
        <p14:creationId xmlns:p14="http://schemas.microsoft.com/office/powerpoint/2010/main" val="4725631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Virtual Data Center" descr="Virtual Data Center">
            <a:extLst>
              <a:ext uri="{FF2B5EF4-FFF2-40B4-BE49-F238E27FC236}">
                <a16:creationId xmlns:a16="http://schemas.microsoft.com/office/drawing/2014/main" id="{26E4A4C1-26BF-5E74-898A-61770BD779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44669" y="2818766"/>
            <a:ext cx="457550" cy="457550"/>
          </a:xfrm>
          <a:prstGeom prst="rect">
            <a:avLst/>
          </a:prstGeom>
        </p:spPr>
      </p:pic>
      <p:pic>
        <p:nvPicPr>
          <p:cNvPr id="36" name="Graphic 80" descr="Azure VMware Solution Private Cloud">
            <a:extLst>
              <a:ext uri="{FF2B5EF4-FFF2-40B4-BE49-F238E27FC236}">
                <a16:creationId xmlns:a16="http://schemas.microsoft.com/office/drawing/2014/main" id="{F319794C-D713-6882-712E-F4D5BBAF78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8571" y="2413668"/>
            <a:ext cx="412833" cy="412833"/>
          </a:xfrm>
          <a:prstGeom prst="rect">
            <a:avLst/>
          </a:prstGeom>
        </p:spPr>
      </p:pic>
      <p:pic>
        <p:nvPicPr>
          <p:cNvPr id="37" name="Graphic 80" descr="Azure VMware Solution Private Cloud">
            <a:extLst>
              <a:ext uri="{FF2B5EF4-FFF2-40B4-BE49-F238E27FC236}">
                <a16:creationId xmlns:a16="http://schemas.microsoft.com/office/drawing/2014/main" id="{FE8C64AB-53E0-9A27-2469-543B19DA9F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88570" y="2921339"/>
            <a:ext cx="412833" cy="412833"/>
          </a:xfrm>
          <a:prstGeom prst="rect">
            <a:avLst/>
          </a:prstGeom>
        </p:spPr>
      </p:pic>
      <p:pic>
        <p:nvPicPr>
          <p:cNvPr id="38" name="Graphic 80" descr="Azure VMware Solution Private Cloud">
            <a:extLst>
              <a:ext uri="{FF2B5EF4-FFF2-40B4-BE49-F238E27FC236}">
                <a16:creationId xmlns:a16="http://schemas.microsoft.com/office/drawing/2014/main" id="{87CD5911-A6D1-AA0B-5968-FFACCFD9E9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677931" y="3429010"/>
            <a:ext cx="412833" cy="412833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B9BA36D-A3F2-4CC8-1F73-FD62697DB877}"/>
              </a:ext>
            </a:extLst>
          </p:cNvPr>
          <p:cNvCxnSpPr>
            <a:endCxn id="36" idx="1"/>
          </p:cNvCxnSpPr>
          <p:nvPr/>
        </p:nvCxnSpPr>
        <p:spPr>
          <a:xfrm flipV="1">
            <a:off x="2556401" y="2620085"/>
            <a:ext cx="1132170" cy="4134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39D802F-C66D-3066-AE1E-6514E094FF8E}"/>
              </a:ext>
            </a:extLst>
          </p:cNvPr>
          <p:cNvCxnSpPr>
            <a:endCxn id="37" idx="1"/>
          </p:cNvCxnSpPr>
          <p:nvPr/>
        </p:nvCxnSpPr>
        <p:spPr>
          <a:xfrm>
            <a:off x="2556401" y="3047398"/>
            <a:ext cx="1132169" cy="803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400CD5B-F1B6-C0F4-DC17-11E20AB149E4}"/>
              </a:ext>
            </a:extLst>
          </p:cNvPr>
          <p:cNvCxnSpPr/>
          <p:nvPr/>
        </p:nvCxnSpPr>
        <p:spPr>
          <a:xfrm>
            <a:off x="2556401" y="3047398"/>
            <a:ext cx="1089726" cy="5880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555C4012-386F-E140-106B-BAD986476921}"/>
              </a:ext>
            </a:extLst>
          </p:cNvPr>
          <p:cNvSpPr txBox="1"/>
          <p:nvPr/>
        </p:nvSpPr>
        <p:spPr>
          <a:xfrm>
            <a:off x="1810306" y="3364616"/>
            <a:ext cx="1690255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rgbClr val="00B050"/>
                </a:solidFill>
              </a:rPr>
              <a:t>1-to-3 Extension</a:t>
            </a:r>
          </a:p>
          <a:p>
            <a:r>
              <a:rPr lang="en-US" sz="1100" dirty="0">
                <a:solidFill>
                  <a:srgbClr val="00B050"/>
                </a:solidFill>
              </a:rPr>
              <a:t>Supported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0BC7C8E-82C8-79AB-54E7-E55B9DE47819}"/>
              </a:ext>
            </a:extLst>
          </p:cNvPr>
          <p:cNvSpPr txBox="1"/>
          <p:nvPr/>
        </p:nvSpPr>
        <p:spPr>
          <a:xfrm>
            <a:off x="3258798" y="2746858"/>
            <a:ext cx="23998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Azure VMware Solution Private Cloud A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62A888-199E-42D1-130C-E361EE501F5E}"/>
              </a:ext>
            </a:extLst>
          </p:cNvPr>
          <p:cNvSpPr txBox="1"/>
          <p:nvPr/>
        </p:nvSpPr>
        <p:spPr>
          <a:xfrm>
            <a:off x="3242377" y="3258480"/>
            <a:ext cx="23998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Azure VMware Solution Private Cloud B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D6F4980-F709-150F-6725-CEF34A658E1E}"/>
              </a:ext>
            </a:extLst>
          </p:cNvPr>
          <p:cNvSpPr txBox="1"/>
          <p:nvPr/>
        </p:nvSpPr>
        <p:spPr>
          <a:xfrm>
            <a:off x="3250727" y="3748770"/>
            <a:ext cx="23998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Azure VMware Solution Private Cloud C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E19030-DF64-5BCF-0263-3AF360CF1703}"/>
              </a:ext>
            </a:extLst>
          </p:cNvPr>
          <p:cNvSpPr txBox="1"/>
          <p:nvPr/>
        </p:nvSpPr>
        <p:spPr>
          <a:xfrm>
            <a:off x="1806008" y="2455654"/>
            <a:ext cx="9348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On-Premises</a:t>
            </a:r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5AC5E7B-AAE0-4877-F07B-C454C643C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984025" y="1640307"/>
            <a:ext cx="3111975" cy="2701034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3" name="Picture 2" descr="Microsoft Azure - Wikipedia">
            <a:extLst>
              <a:ext uri="{FF2B5EF4-FFF2-40B4-BE49-F238E27FC236}">
                <a16:creationId xmlns:a16="http://schemas.microsoft.com/office/drawing/2014/main" id="{55E95E14-7E35-E005-7AF6-AD316379F2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03178" y="1768171"/>
            <a:ext cx="412834" cy="412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6D06DA3-2359-B8FB-265D-3CF47F55686E}"/>
              </a:ext>
            </a:extLst>
          </p:cNvPr>
          <p:cNvSpPr txBox="1"/>
          <p:nvPr/>
        </p:nvSpPr>
        <p:spPr>
          <a:xfrm>
            <a:off x="3579848" y="1889949"/>
            <a:ext cx="103073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Microsoft Azure</a:t>
            </a:r>
          </a:p>
        </p:txBody>
      </p:sp>
    </p:spTree>
    <p:extLst>
      <p:ext uri="{BB962C8B-B14F-4D97-AF65-F5344CB8AC3E}">
        <p14:creationId xmlns:p14="http://schemas.microsoft.com/office/powerpoint/2010/main" val="28219657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Virtual Data Center" descr="Virtual Data Center">
            <a:extLst>
              <a:ext uri="{FF2B5EF4-FFF2-40B4-BE49-F238E27FC236}">
                <a16:creationId xmlns:a16="http://schemas.microsoft.com/office/drawing/2014/main" id="{022E7BAB-5D7A-B19B-8A3E-0A7549B968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0208" y="3300079"/>
            <a:ext cx="457550" cy="45755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587C638-9CB7-ECC0-2618-758756EC8AE0}"/>
              </a:ext>
            </a:extLst>
          </p:cNvPr>
          <p:cNvCxnSpPr/>
          <p:nvPr/>
        </p:nvCxnSpPr>
        <p:spPr>
          <a:xfrm>
            <a:off x="1339274" y="3528854"/>
            <a:ext cx="1533236" cy="0"/>
          </a:xfrm>
          <a:prstGeom prst="straightConnector1">
            <a:avLst/>
          </a:prstGeom>
          <a:ln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Virtual Data Center" descr="Virtual Data Center">
            <a:extLst>
              <a:ext uri="{FF2B5EF4-FFF2-40B4-BE49-F238E27FC236}">
                <a16:creationId xmlns:a16="http://schemas.microsoft.com/office/drawing/2014/main" id="{022E7BAB-5D7A-B19B-8A3E-0A7549B968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58833" y="3296231"/>
            <a:ext cx="457550" cy="457550"/>
          </a:xfrm>
          <a:prstGeom prst="rect">
            <a:avLst/>
          </a:prstGeom>
        </p:spPr>
      </p:pic>
      <p:pic>
        <p:nvPicPr>
          <p:cNvPr id="10" name="Graphic 80" descr="Azure VMware Solution Private Cloud">
            <a:extLst>
              <a:ext uri="{FF2B5EF4-FFF2-40B4-BE49-F238E27FC236}">
                <a16:creationId xmlns:a16="http://schemas.microsoft.com/office/drawing/2014/main" id="{3182B585-6AA0-49F4-618B-EA44F7D99F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92623" y="2295606"/>
            <a:ext cx="412833" cy="412833"/>
          </a:xfrm>
          <a:prstGeom prst="rect">
            <a:avLst/>
          </a:prstGeom>
        </p:spPr>
      </p:pic>
      <p:pic>
        <p:nvPicPr>
          <p:cNvPr id="11" name="Graphic 80" descr="Azure VMware Solution Private Cloud">
            <a:extLst>
              <a:ext uri="{FF2B5EF4-FFF2-40B4-BE49-F238E27FC236}">
                <a16:creationId xmlns:a16="http://schemas.microsoft.com/office/drawing/2014/main" id="{3182B585-6AA0-49F4-618B-EA44F7D99F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3478" y="3747879"/>
            <a:ext cx="412833" cy="41283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132139-78EF-A6B6-7A4B-E48BF51A67EF}"/>
              </a:ext>
            </a:extLst>
          </p:cNvPr>
          <p:cNvCxnSpPr>
            <a:cxnSpLocks/>
          </p:cNvCxnSpPr>
          <p:nvPr/>
        </p:nvCxnSpPr>
        <p:spPr>
          <a:xfrm flipV="1">
            <a:off x="5222996" y="2611538"/>
            <a:ext cx="372021" cy="118250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79453E0-F900-95D8-A946-156D4E59B2FB}"/>
              </a:ext>
            </a:extLst>
          </p:cNvPr>
          <p:cNvCxnSpPr>
            <a:cxnSpLocks/>
          </p:cNvCxnSpPr>
          <p:nvPr/>
        </p:nvCxnSpPr>
        <p:spPr>
          <a:xfrm>
            <a:off x="3351888" y="3638882"/>
            <a:ext cx="1519174" cy="39982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4F770BE-9F21-F3F2-5A2C-E2044A9484A3}"/>
              </a:ext>
            </a:extLst>
          </p:cNvPr>
          <p:cNvCxnSpPr>
            <a:cxnSpLocks/>
          </p:cNvCxnSpPr>
          <p:nvPr/>
        </p:nvCxnSpPr>
        <p:spPr>
          <a:xfrm>
            <a:off x="6061161" y="2502022"/>
            <a:ext cx="3186544" cy="0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1FD17AD-E2CD-1F2A-1E6F-BE234424A519}"/>
              </a:ext>
            </a:extLst>
          </p:cNvPr>
          <p:cNvCxnSpPr>
            <a:cxnSpLocks/>
          </p:cNvCxnSpPr>
          <p:nvPr/>
        </p:nvCxnSpPr>
        <p:spPr>
          <a:xfrm>
            <a:off x="5398656" y="3964045"/>
            <a:ext cx="2784763" cy="1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FA4818E-478F-C470-9CF7-6F9E182D7286}"/>
              </a:ext>
            </a:extLst>
          </p:cNvPr>
          <p:cNvSpPr txBox="1"/>
          <p:nvPr/>
        </p:nvSpPr>
        <p:spPr>
          <a:xfrm>
            <a:off x="1473424" y="3076338"/>
            <a:ext cx="1154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VLAN 100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26ED45-5EDE-01E7-EE6D-E45F750EBC77}"/>
              </a:ext>
            </a:extLst>
          </p:cNvPr>
          <p:cNvSpPr txBox="1"/>
          <p:nvPr/>
        </p:nvSpPr>
        <p:spPr>
          <a:xfrm>
            <a:off x="923450" y="3697592"/>
            <a:ext cx="2377574" cy="3847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On-Premises Site 1 originates VLAN 100</a:t>
            </a:r>
          </a:p>
          <a:p>
            <a:r>
              <a:rPr lang="en-US" sz="900" dirty="0">
                <a:solidFill>
                  <a:schemeClr val="accent1"/>
                </a:solidFill>
              </a:rPr>
              <a:t>“L-Topology”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382B9FD-5E9B-9AB2-8300-52765E72694D}"/>
              </a:ext>
            </a:extLst>
          </p:cNvPr>
          <p:cNvCxnSpPr/>
          <p:nvPr/>
        </p:nvCxnSpPr>
        <p:spPr>
          <a:xfrm>
            <a:off x="5477166" y="3783089"/>
            <a:ext cx="1533236" cy="0"/>
          </a:xfrm>
          <a:prstGeom prst="straightConnector1">
            <a:avLst/>
          </a:prstGeom>
          <a:ln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0B1CC1F-77ED-CC4B-F30C-86AEB4AD320C}"/>
              </a:ext>
            </a:extLst>
          </p:cNvPr>
          <p:cNvCxnSpPr/>
          <p:nvPr/>
        </p:nvCxnSpPr>
        <p:spPr>
          <a:xfrm>
            <a:off x="6359240" y="2371031"/>
            <a:ext cx="1533236" cy="0"/>
          </a:xfrm>
          <a:prstGeom prst="straightConnector1">
            <a:avLst/>
          </a:prstGeom>
          <a:ln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37696D2-4B29-5BEA-8857-FEC4CDCA0DD4}"/>
              </a:ext>
            </a:extLst>
          </p:cNvPr>
          <p:cNvSpPr txBox="1"/>
          <p:nvPr/>
        </p:nvSpPr>
        <p:spPr>
          <a:xfrm>
            <a:off x="6530943" y="2047529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VNI 100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A70199-F120-DCC7-433B-AD7A6D5F2BD6}"/>
              </a:ext>
            </a:extLst>
          </p:cNvPr>
          <p:cNvSpPr txBox="1"/>
          <p:nvPr/>
        </p:nvSpPr>
        <p:spPr>
          <a:xfrm>
            <a:off x="5598530" y="3494218"/>
            <a:ext cx="1151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VNI 100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B81A4D-5E3B-AF65-1669-50FC7E9E3676}"/>
              </a:ext>
            </a:extLst>
          </p:cNvPr>
          <p:cNvSpPr txBox="1"/>
          <p:nvPr/>
        </p:nvSpPr>
        <p:spPr>
          <a:xfrm>
            <a:off x="7448504" y="3524448"/>
            <a:ext cx="734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Site 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A4513D-8D53-6E9C-07FE-E71095136D4A}"/>
              </a:ext>
            </a:extLst>
          </p:cNvPr>
          <p:cNvSpPr txBox="1"/>
          <p:nvPr/>
        </p:nvSpPr>
        <p:spPr>
          <a:xfrm>
            <a:off x="8543637" y="2001699"/>
            <a:ext cx="10067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Site 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E031AB-5308-3986-9AA8-C1ECB6A78452}"/>
              </a:ext>
            </a:extLst>
          </p:cNvPr>
          <p:cNvSpPr txBox="1"/>
          <p:nvPr/>
        </p:nvSpPr>
        <p:spPr>
          <a:xfrm>
            <a:off x="952084" y="2093695"/>
            <a:ext cx="31340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/>
              <a:t>On-Premises VM network (VLAN 100) extended to Site 2 (Azure VMware Solution) </a:t>
            </a:r>
          </a:p>
          <a:p>
            <a:r>
              <a:rPr lang="en-US" sz="900" dirty="0"/>
              <a:t>On-Premises VM network (VLAN 100) extended to Site 3 (Azure VMware Solution)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1ABE14B-385D-2F55-14C1-445EB05E7ABC}"/>
              </a:ext>
            </a:extLst>
          </p:cNvPr>
          <p:cNvCxnSpPr>
            <a:cxnSpLocks/>
          </p:cNvCxnSpPr>
          <p:nvPr/>
        </p:nvCxnSpPr>
        <p:spPr>
          <a:xfrm flipV="1">
            <a:off x="5306311" y="2743979"/>
            <a:ext cx="336356" cy="103911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EFA5188-E4A1-30F4-4044-72A1DEF979E5}"/>
              </a:ext>
            </a:extLst>
          </p:cNvPr>
          <p:cNvCxnSpPr>
            <a:cxnSpLocks/>
          </p:cNvCxnSpPr>
          <p:nvPr/>
        </p:nvCxnSpPr>
        <p:spPr>
          <a:xfrm>
            <a:off x="3438799" y="3549215"/>
            <a:ext cx="1414605" cy="349954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7AE0DC5A-6962-69DD-1DAD-46613519AB3B}"/>
              </a:ext>
            </a:extLst>
          </p:cNvPr>
          <p:cNvSpPr txBox="1"/>
          <p:nvPr/>
        </p:nvSpPr>
        <p:spPr>
          <a:xfrm rot="928431">
            <a:off x="3250469" y="3751877"/>
            <a:ext cx="4619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NE-1I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9C53AE0-7DB6-A164-E379-2B0BCF86E231}"/>
              </a:ext>
            </a:extLst>
          </p:cNvPr>
          <p:cNvSpPr txBox="1"/>
          <p:nvPr/>
        </p:nvSpPr>
        <p:spPr>
          <a:xfrm rot="818723">
            <a:off x="4355936" y="4033529"/>
            <a:ext cx="643598" cy="239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NE-1R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7DDA325-58BB-2640-63E5-9141FF25B123}"/>
              </a:ext>
            </a:extLst>
          </p:cNvPr>
          <p:cNvSpPr txBox="1"/>
          <p:nvPr/>
        </p:nvSpPr>
        <p:spPr>
          <a:xfrm rot="17371323">
            <a:off x="4925331" y="3395603"/>
            <a:ext cx="4619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NE-2I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9C1C982-AC4A-E11F-B4FE-A2FE2F60E444}"/>
              </a:ext>
            </a:extLst>
          </p:cNvPr>
          <p:cNvSpPr txBox="1"/>
          <p:nvPr/>
        </p:nvSpPr>
        <p:spPr>
          <a:xfrm rot="17839994">
            <a:off x="5100166" y="2521515"/>
            <a:ext cx="5982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NE-2R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E35193A7-715F-CC2B-4E6E-71343E46BDD5}"/>
              </a:ext>
            </a:extLst>
          </p:cNvPr>
          <p:cNvSpPr txBox="1"/>
          <p:nvPr/>
        </p:nvSpPr>
        <p:spPr>
          <a:xfrm>
            <a:off x="4829490" y="4139206"/>
            <a:ext cx="24633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Azure VMware Solution Private Cloud A 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9BBD696-74C8-B9C6-E613-61C18F745EA5}"/>
              </a:ext>
            </a:extLst>
          </p:cNvPr>
          <p:cNvSpPr txBox="1"/>
          <p:nvPr/>
        </p:nvSpPr>
        <p:spPr>
          <a:xfrm>
            <a:off x="5626440" y="2669146"/>
            <a:ext cx="232919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Azure VMware Solution Private Cloud B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6BB2693-3ED0-FBCE-6FE5-52DD2AB15AC9}"/>
              </a:ext>
            </a:extLst>
          </p:cNvPr>
          <p:cNvSpPr txBox="1"/>
          <p:nvPr/>
        </p:nvSpPr>
        <p:spPr>
          <a:xfrm>
            <a:off x="523271" y="2816399"/>
            <a:ext cx="734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Site 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0AC35B5-AA54-2653-8C69-3E7B9C1AD5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183580" y="1567558"/>
            <a:ext cx="5570020" cy="3236346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" name="Picture 3" descr="Microsoft Azure - Wikipedia">
            <a:extLst>
              <a:ext uri="{FF2B5EF4-FFF2-40B4-BE49-F238E27FC236}">
                <a16:creationId xmlns:a16="http://schemas.microsoft.com/office/drawing/2014/main" id="{D1F58B1B-6A58-A3C1-7778-E73FD7869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02733" y="1695422"/>
            <a:ext cx="412834" cy="412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FA254A6-055D-3BD0-1F31-B4219B52DE3B}"/>
              </a:ext>
            </a:extLst>
          </p:cNvPr>
          <p:cNvSpPr txBox="1"/>
          <p:nvPr/>
        </p:nvSpPr>
        <p:spPr>
          <a:xfrm>
            <a:off x="4779403" y="1817200"/>
            <a:ext cx="103073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Microsoft Azure</a:t>
            </a:r>
          </a:p>
        </p:txBody>
      </p:sp>
    </p:spTree>
    <p:extLst>
      <p:ext uri="{BB962C8B-B14F-4D97-AF65-F5344CB8AC3E}">
        <p14:creationId xmlns:p14="http://schemas.microsoft.com/office/powerpoint/2010/main" val="726991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34F81032-5621-1002-A8F0-8A410F12F5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516048" y="1533363"/>
            <a:ext cx="4081033" cy="3236346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35" name="Virtual Data Center" descr="Virtual Data Center">
            <a:extLst>
              <a:ext uri="{FF2B5EF4-FFF2-40B4-BE49-F238E27FC236}">
                <a16:creationId xmlns:a16="http://schemas.microsoft.com/office/drawing/2014/main" id="{26E4A4C1-26BF-5E74-898A-61770BD779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36852" y="3492246"/>
            <a:ext cx="457550" cy="457550"/>
          </a:xfrm>
          <a:prstGeom prst="rect">
            <a:avLst/>
          </a:prstGeom>
        </p:spPr>
      </p:pic>
      <p:pic>
        <p:nvPicPr>
          <p:cNvPr id="37" name="Graphic 80" descr="Azure VMware Solution Private Cloud">
            <a:extLst>
              <a:ext uri="{FF2B5EF4-FFF2-40B4-BE49-F238E27FC236}">
                <a16:creationId xmlns:a16="http://schemas.microsoft.com/office/drawing/2014/main" id="{FE8C64AB-53E0-9A27-2469-543B19DA9F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90298" y="2299285"/>
            <a:ext cx="412833" cy="412833"/>
          </a:xfrm>
          <a:prstGeom prst="rect">
            <a:avLst/>
          </a:prstGeom>
        </p:spPr>
      </p:pic>
      <p:pic>
        <p:nvPicPr>
          <p:cNvPr id="38" name="Graphic 80" descr="Azure VMware Solution Private Cloud">
            <a:extLst>
              <a:ext uri="{FF2B5EF4-FFF2-40B4-BE49-F238E27FC236}">
                <a16:creationId xmlns:a16="http://schemas.microsoft.com/office/drawing/2014/main" id="{87CD5911-A6D1-AA0B-5968-FFACCFD9E9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87090" y="3612512"/>
            <a:ext cx="412833" cy="412833"/>
          </a:xfrm>
          <a:prstGeom prst="rect">
            <a:avLst/>
          </a:prstGeom>
        </p:spPr>
      </p:pic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39D802F-C66D-3066-AE1E-6514E094FF8E}"/>
              </a:ext>
            </a:extLst>
          </p:cNvPr>
          <p:cNvCxnSpPr>
            <a:cxnSpLocks/>
            <a:stCxn id="38" idx="0"/>
            <a:endCxn id="37" idx="2"/>
          </p:cNvCxnSpPr>
          <p:nvPr/>
        </p:nvCxnSpPr>
        <p:spPr>
          <a:xfrm flipV="1">
            <a:off x="6593507" y="2712118"/>
            <a:ext cx="103208" cy="90039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400CD5B-F1B6-C0F4-DC17-11E20AB149E4}"/>
              </a:ext>
            </a:extLst>
          </p:cNvPr>
          <p:cNvCxnSpPr>
            <a:cxnSpLocks/>
          </p:cNvCxnSpPr>
          <p:nvPr/>
        </p:nvCxnSpPr>
        <p:spPr>
          <a:xfrm>
            <a:off x="4864464" y="3704368"/>
            <a:ext cx="1521423" cy="9488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FA86271-CBC6-E27E-16D3-30FECE136479}"/>
              </a:ext>
            </a:extLst>
          </p:cNvPr>
          <p:cNvSpPr txBox="1"/>
          <p:nvPr/>
        </p:nvSpPr>
        <p:spPr>
          <a:xfrm>
            <a:off x="2677506" y="3704368"/>
            <a:ext cx="157607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B050"/>
                </a:solidFill>
              </a:rPr>
              <a:t>Any to Any HCX Migration</a:t>
            </a:r>
          </a:p>
          <a:p>
            <a:r>
              <a:rPr lang="en-US" sz="1000" dirty="0">
                <a:solidFill>
                  <a:srgbClr val="00B050"/>
                </a:solidFill>
              </a:rPr>
              <a:t>Topologies supported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602F8344-2DC9-248E-9C00-4C7DD7C36F8B}"/>
              </a:ext>
            </a:extLst>
          </p:cNvPr>
          <p:cNvCxnSpPr>
            <a:cxnSpLocks/>
          </p:cNvCxnSpPr>
          <p:nvPr/>
        </p:nvCxnSpPr>
        <p:spPr>
          <a:xfrm flipV="1">
            <a:off x="4819838" y="2686056"/>
            <a:ext cx="1681505" cy="83330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7EABDBF8-E998-1793-B7C4-6C32D6E7EB46}"/>
              </a:ext>
            </a:extLst>
          </p:cNvPr>
          <p:cNvCxnSpPr>
            <a:cxnSpLocks/>
          </p:cNvCxnSpPr>
          <p:nvPr/>
        </p:nvCxnSpPr>
        <p:spPr>
          <a:xfrm flipV="1">
            <a:off x="4727674" y="2559498"/>
            <a:ext cx="1736387" cy="897935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C8DFF42C-4D31-F571-7B6A-178BAECCEA34}"/>
              </a:ext>
            </a:extLst>
          </p:cNvPr>
          <p:cNvCxnSpPr>
            <a:cxnSpLocks/>
          </p:cNvCxnSpPr>
          <p:nvPr/>
        </p:nvCxnSpPr>
        <p:spPr>
          <a:xfrm>
            <a:off x="4895605" y="3818928"/>
            <a:ext cx="1438374" cy="87206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>
            <a:extLst>
              <a:ext uri="{FF2B5EF4-FFF2-40B4-BE49-F238E27FC236}">
                <a16:creationId xmlns:a16="http://schemas.microsoft.com/office/drawing/2014/main" id="{CB9652DE-ED3B-4C6E-5A64-8403A80B6230}"/>
              </a:ext>
            </a:extLst>
          </p:cNvPr>
          <p:cNvSpPr txBox="1"/>
          <p:nvPr/>
        </p:nvSpPr>
        <p:spPr>
          <a:xfrm>
            <a:off x="5002149" y="3858256"/>
            <a:ext cx="117692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L2 Ext + Migration 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495B773E-38C6-3AFD-79A4-85B70D9C28B0}"/>
              </a:ext>
            </a:extLst>
          </p:cNvPr>
          <p:cNvSpPr txBox="1"/>
          <p:nvPr/>
        </p:nvSpPr>
        <p:spPr>
          <a:xfrm rot="20034943">
            <a:off x="4998683" y="2730840"/>
            <a:ext cx="125298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L2 Ext + Migration 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FE4F5002-735B-B0DD-70FF-FA956C90BB3D}"/>
              </a:ext>
            </a:extLst>
          </p:cNvPr>
          <p:cNvSpPr txBox="1"/>
          <p:nvPr/>
        </p:nvSpPr>
        <p:spPr>
          <a:xfrm>
            <a:off x="6707760" y="2990255"/>
            <a:ext cx="70403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Migration</a:t>
            </a:r>
          </a:p>
          <a:p>
            <a:r>
              <a:rPr lang="en-US" sz="1000" dirty="0">
                <a:solidFill>
                  <a:srgbClr val="0070C0"/>
                </a:solidFill>
              </a:rPr>
              <a:t>Only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00DBA3C1-37AE-2E3C-FB34-46244B9850F7}"/>
              </a:ext>
            </a:extLst>
          </p:cNvPr>
          <p:cNvSpPr txBox="1"/>
          <p:nvPr/>
        </p:nvSpPr>
        <p:spPr>
          <a:xfrm>
            <a:off x="6670478" y="2604965"/>
            <a:ext cx="243838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Azure VMware Solution Private Cloud B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9231616-F8F5-1ADB-D632-08B55A5FC6E1}"/>
              </a:ext>
            </a:extLst>
          </p:cNvPr>
          <p:cNvSpPr txBox="1"/>
          <p:nvPr/>
        </p:nvSpPr>
        <p:spPr>
          <a:xfrm>
            <a:off x="6464061" y="3950166"/>
            <a:ext cx="238181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Azure VMware Solution Private Cloud A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D0E4F57-C065-7C09-14DA-F47002C68E80}"/>
              </a:ext>
            </a:extLst>
          </p:cNvPr>
          <p:cNvSpPr txBox="1"/>
          <p:nvPr/>
        </p:nvSpPr>
        <p:spPr>
          <a:xfrm>
            <a:off x="4198191" y="3981367"/>
            <a:ext cx="9348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On-Premises</a:t>
            </a:r>
            <a:endParaRPr lang="en-US" sz="900" dirty="0">
              <a:solidFill>
                <a:schemeClr val="accent1"/>
              </a:solidFill>
            </a:endParaRPr>
          </a:p>
        </p:txBody>
      </p:sp>
      <p:pic>
        <p:nvPicPr>
          <p:cNvPr id="3" name="Picture 2" descr="Microsoft Azure - Wikipedia">
            <a:extLst>
              <a:ext uri="{FF2B5EF4-FFF2-40B4-BE49-F238E27FC236}">
                <a16:creationId xmlns:a16="http://schemas.microsoft.com/office/drawing/2014/main" id="{43398BAC-734C-BD46-246F-140634F9DE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35201" y="1661227"/>
            <a:ext cx="412834" cy="412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E18F07-68EE-6EE9-1F93-55A813A507D3}"/>
              </a:ext>
            </a:extLst>
          </p:cNvPr>
          <p:cNvSpPr txBox="1"/>
          <p:nvPr/>
        </p:nvSpPr>
        <p:spPr>
          <a:xfrm>
            <a:off x="6111871" y="1783005"/>
            <a:ext cx="103073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Microsoft Azure</a:t>
            </a:r>
          </a:p>
        </p:txBody>
      </p:sp>
    </p:spTree>
    <p:extLst>
      <p:ext uri="{BB962C8B-B14F-4D97-AF65-F5344CB8AC3E}">
        <p14:creationId xmlns:p14="http://schemas.microsoft.com/office/powerpoint/2010/main" val="14895083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C8904-851A-AA2D-415D-B533D2A100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Virtual Data Center" descr="Virtual Data Center">
            <a:extLst>
              <a:ext uri="{FF2B5EF4-FFF2-40B4-BE49-F238E27FC236}">
                <a16:creationId xmlns:a16="http://schemas.microsoft.com/office/drawing/2014/main" id="{CDE8F8EB-8546-4131-016B-00B21FDB3F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76357" y="2618585"/>
            <a:ext cx="457550" cy="457550"/>
          </a:xfrm>
          <a:prstGeom prst="rect">
            <a:avLst/>
          </a:prstGeom>
        </p:spPr>
      </p:pic>
      <p:pic>
        <p:nvPicPr>
          <p:cNvPr id="46" name="Graphic 80" descr="Azure VMware Solution Private Cloud">
            <a:extLst>
              <a:ext uri="{FF2B5EF4-FFF2-40B4-BE49-F238E27FC236}">
                <a16:creationId xmlns:a16="http://schemas.microsoft.com/office/drawing/2014/main" id="{5ECB3C8A-A8E2-7256-B607-6E3E7A14826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0259" y="2213487"/>
            <a:ext cx="412833" cy="412833"/>
          </a:xfrm>
          <a:prstGeom prst="rect">
            <a:avLst/>
          </a:prstGeom>
        </p:spPr>
      </p:pic>
      <p:pic>
        <p:nvPicPr>
          <p:cNvPr id="47" name="Graphic 80" descr="Azure VMware Solution Private Cloud">
            <a:extLst>
              <a:ext uri="{FF2B5EF4-FFF2-40B4-BE49-F238E27FC236}">
                <a16:creationId xmlns:a16="http://schemas.microsoft.com/office/drawing/2014/main" id="{61B87010-BAE0-A73C-E0CC-586E188DAD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0258" y="2721158"/>
            <a:ext cx="412833" cy="412833"/>
          </a:xfrm>
          <a:prstGeom prst="rect">
            <a:avLst/>
          </a:prstGeom>
        </p:spPr>
      </p:pic>
      <p:pic>
        <p:nvPicPr>
          <p:cNvPr id="48" name="Graphic 80" descr="Azure VMware Solution Private Cloud">
            <a:extLst>
              <a:ext uri="{FF2B5EF4-FFF2-40B4-BE49-F238E27FC236}">
                <a16:creationId xmlns:a16="http://schemas.microsoft.com/office/drawing/2014/main" id="{B41A7806-33BE-D9ED-BE31-00AF34FC5D8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09619" y="3228829"/>
            <a:ext cx="412833" cy="412833"/>
          </a:xfrm>
          <a:prstGeom prst="rect">
            <a:avLst/>
          </a:prstGeom>
        </p:spPr>
      </p:pic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11B24898-A2B5-8087-AF85-E15E7DB44BC7}"/>
              </a:ext>
            </a:extLst>
          </p:cNvPr>
          <p:cNvCxnSpPr>
            <a:endCxn id="46" idx="1"/>
          </p:cNvCxnSpPr>
          <p:nvPr/>
        </p:nvCxnSpPr>
        <p:spPr>
          <a:xfrm flipV="1">
            <a:off x="3288089" y="2419904"/>
            <a:ext cx="1132170" cy="41340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18ADFF6-A8EC-E3E7-6A1C-FFF42348C10C}"/>
              </a:ext>
            </a:extLst>
          </p:cNvPr>
          <p:cNvCxnSpPr>
            <a:endCxn id="47" idx="1"/>
          </p:cNvCxnSpPr>
          <p:nvPr/>
        </p:nvCxnSpPr>
        <p:spPr>
          <a:xfrm>
            <a:off x="3288089" y="2847217"/>
            <a:ext cx="1132169" cy="8035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B97ACBD-072B-8AB5-64C8-DF09867CEBAC}"/>
              </a:ext>
            </a:extLst>
          </p:cNvPr>
          <p:cNvCxnSpPr/>
          <p:nvPr/>
        </p:nvCxnSpPr>
        <p:spPr>
          <a:xfrm>
            <a:off x="3288089" y="2847217"/>
            <a:ext cx="1089726" cy="5880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2" name="Graphic 80" descr="Azure VMware Solution Private Cloud">
            <a:extLst>
              <a:ext uri="{FF2B5EF4-FFF2-40B4-BE49-F238E27FC236}">
                <a16:creationId xmlns:a16="http://schemas.microsoft.com/office/drawing/2014/main" id="{8531BFA7-5978-4FB6-E0DC-E4E6657858A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23518" y="3806102"/>
            <a:ext cx="412833" cy="412833"/>
          </a:xfrm>
          <a:prstGeom prst="rect">
            <a:avLst/>
          </a:prstGeom>
        </p:spPr>
      </p:pic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749885B-8C85-EC20-5A57-5DDA942D9CD1}"/>
              </a:ext>
            </a:extLst>
          </p:cNvPr>
          <p:cNvCxnSpPr>
            <a:cxnSpLocks/>
          </p:cNvCxnSpPr>
          <p:nvPr/>
        </p:nvCxnSpPr>
        <p:spPr>
          <a:xfrm>
            <a:off x="3288089" y="2847217"/>
            <a:ext cx="1121530" cy="1166085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id="{11313F1D-63F9-F697-4978-672B13755EB1}"/>
              </a:ext>
            </a:extLst>
          </p:cNvPr>
          <p:cNvSpPr txBox="1"/>
          <p:nvPr/>
        </p:nvSpPr>
        <p:spPr>
          <a:xfrm>
            <a:off x="2547931" y="3432804"/>
            <a:ext cx="121470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</a:rPr>
              <a:t>1-to-4 Extension</a:t>
            </a:r>
          </a:p>
          <a:p>
            <a:r>
              <a:rPr lang="en-US" sz="1100" dirty="0">
                <a:solidFill>
                  <a:srgbClr val="FF0000"/>
                </a:solidFill>
              </a:rPr>
              <a:t>Not Supported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EB3A91B-70AE-F035-9426-6865569BFC0F}"/>
              </a:ext>
            </a:extLst>
          </p:cNvPr>
          <p:cNvSpPr txBox="1"/>
          <p:nvPr/>
        </p:nvSpPr>
        <p:spPr>
          <a:xfrm>
            <a:off x="4107757" y="4124072"/>
            <a:ext cx="23998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Azure VMware Solution Private Cloud D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903117F-39FD-F18E-6233-7B0DE3E1F5DA}"/>
              </a:ext>
            </a:extLst>
          </p:cNvPr>
          <p:cNvSpPr txBox="1"/>
          <p:nvPr/>
        </p:nvSpPr>
        <p:spPr>
          <a:xfrm>
            <a:off x="4107757" y="3585735"/>
            <a:ext cx="2399863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Azure VMware Solution Private Cloud C 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4C3C9B4-D708-3175-AD3F-5D195CCCC760}"/>
              </a:ext>
            </a:extLst>
          </p:cNvPr>
          <p:cNvSpPr txBox="1"/>
          <p:nvPr/>
        </p:nvSpPr>
        <p:spPr>
          <a:xfrm>
            <a:off x="4080761" y="3047398"/>
            <a:ext cx="2364574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Azure VMware Solution Private Cloud B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3831A406-C2FF-F328-7D36-A6485CF06DB9}"/>
              </a:ext>
            </a:extLst>
          </p:cNvPr>
          <p:cNvSpPr txBox="1"/>
          <p:nvPr/>
        </p:nvSpPr>
        <p:spPr>
          <a:xfrm>
            <a:off x="4056102" y="2569459"/>
            <a:ext cx="2394097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Azure VMware Solution Private Cloud A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F83CB36-F832-3192-44C2-4D081F388A97}"/>
              </a:ext>
            </a:extLst>
          </p:cNvPr>
          <p:cNvSpPr txBox="1"/>
          <p:nvPr/>
        </p:nvSpPr>
        <p:spPr>
          <a:xfrm>
            <a:off x="2537696" y="2405992"/>
            <a:ext cx="9348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On-Premises</a:t>
            </a:r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9F480B9-D53B-CF33-E2F5-5271A4704C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725442" y="1610656"/>
            <a:ext cx="3029585" cy="3236346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3" name="Picture 2" descr="Microsoft Azure - Wikipedia">
            <a:extLst>
              <a:ext uri="{FF2B5EF4-FFF2-40B4-BE49-F238E27FC236}">
                <a16:creationId xmlns:a16="http://schemas.microsoft.com/office/drawing/2014/main" id="{F89374C3-8A41-F6F5-E823-7604987DA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4595" y="1738520"/>
            <a:ext cx="412834" cy="412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EA75927-6E85-F9E4-CC0D-4A11E1EC8609}"/>
              </a:ext>
            </a:extLst>
          </p:cNvPr>
          <p:cNvSpPr txBox="1"/>
          <p:nvPr/>
        </p:nvSpPr>
        <p:spPr>
          <a:xfrm>
            <a:off x="4321265" y="1860298"/>
            <a:ext cx="103073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Microsoft Azure</a:t>
            </a:r>
          </a:p>
        </p:txBody>
      </p:sp>
    </p:spTree>
    <p:extLst>
      <p:ext uri="{BB962C8B-B14F-4D97-AF65-F5344CB8AC3E}">
        <p14:creationId xmlns:p14="http://schemas.microsoft.com/office/powerpoint/2010/main" val="35960083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Virtual Data Center" descr="Virtual Data Center">
            <a:extLst>
              <a:ext uri="{FF2B5EF4-FFF2-40B4-BE49-F238E27FC236}">
                <a16:creationId xmlns:a16="http://schemas.microsoft.com/office/drawing/2014/main" id="{26E4A4C1-26BF-5E74-898A-61770BD779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84480" y="3146220"/>
            <a:ext cx="457550" cy="457550"/>
          </a:xfrm>
          <a:prstGeom prst="rect">
            <a:avLst/>
          </a:prstGeom>
        </p:spPr>
      </p:pic>
      <p:pic>
        <p:nvPicPr>
          <p:cNvPr id="36" name="Graphic 80" descr="Azure VMware Solution Private Cloud">
            <a:extLst>
              <a:ext uri="{FF2B5EF4-FFF2-40B4-BE49-F238E27FC236}">
                <a16:creationId xmlns:a16="http://schemas.microsoft.com/office/drawing/2014/main" id="{F319794C-D713-6882-712E-F4D5BBAF78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88346" y="3116319"/>
            <a:ext cx="412833" cy="412833"/>
          </a:xfrm>
          <a:prstGeom prst="rect">
            <a:avLst/>
          </a:prstGeom>
        </p:spPr>
      </p:pic>
      <p:pic>
        <p:nvPicPr>
          <p:cNvPr id="37" name="Graphic 80" descr="Azure VMware Solution Private Cloud">
            <a:extLst>
              <a:ext uri="{FF2B5EF4-FFF2-40B4-BE49-F238E27FC236}">
                <a16:creationId xmlns:a16="http://schemas.microsoft.com/office/drawing/2014/main" id="{FE8C64AB-53E0-9A27-2469-543B19DA9F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03763" y="3116319"/>
            <a:ext cx="412833" cy="412833"/>
          </a:xfrm>
          <a:prstGeom prst="rect">
            <a:avLst/>
          </a:prstGeom>
        </p:spPr>
      </p:pic>
      <p:pic>
        <p:nvPicPr>
          <p:cNvPr id="38" name="Graphic 80" descr="Azure VMware Solution Private Cloud">
            <a:extLst>
              <a:ext uri="{FF2B5EF4-FFF2-40B4-BE49-F238E27FC236}">
                <a16:creationId xmlns:a16="http://schemas.microsoft.com/office/drawing/2014/main" id="{87CD5911-A6D1-AA0B-5968-FFACCFD9E97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017742" y="3756464"/>
            <a:ext cx="412833" cy="412833"/>
          </a:xfrm>
          <a:prstGeom prst="rect">
            <a:avLst/>
          </a:prstGeom>
        </p:spPr>
      </p:pic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5B9BA36D-A3F2-4CC8-1F73-FD62697DB877}"/>
              </a:ext>
            </a:extLst>
          </p:cNvPr>
          <p:cNvCxnSpPr>
            <a:cxnSpLocks/>
          </p:cNvCxnSpPr>
          <p:nvPr/>
        </p:nvCxnSpPr>
        <p:spPr>
          <a:xfrm>
            <a:off x="5810866" y="3352920"/>
            <a:ext cx="2356249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039D802F-C66D-3066-AE1E-6514E094FF8E}"/>
              </a:ext>
            </a:extLst>
          </p:cNvPr>
          <p:cNvCxnSpPr>
            <a:cxnSpLocks/>
            <a:stCxn id="38" idx="3"/>
          </p:cNvCxnSpPr>
          <p:nvPr/>
        </p:nvCxnSpPr>
        <p:spPr>
          <a:xfrm flipV="1">
            <a:off x="4430575" y="3435807"/>
            <a:ext cx="973188" cy="527074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400CD5B-F1B6-C0F4-DC17-11E20AB149E4}"/>
              </a:ext>
            </a:extLst>
          </p:cNvPr>
          <p:cNvCxnSpPr/>
          <p:nvPr/>
        </p:nvCxnSpPr>
        <p:spPr>
          <a:xfrm>
            <a:off x="2896212" y="3374852"/>
            <a:ext cx="1089726" cy="588028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4FA86271-CBC6-E27E-16D3-30FECE136479}"/>
              </a:ext>
            </a:extLst>
          </p:cNvPr>
          <p:cNvSpPr txBox="1"/>
          <p:nvPr/>
        </p:nvSpPr>
        <p:spPr>
          <a:xfrm>
            <a:off x="5255741" y="2803649"/>
            <a:ext cx="29113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FF0000"/>
                </a:solidFill>
              </a:rPr>
              <a:t>Daisy Chain Extension to 4</a:t>
            </a:r>
            <a:r>
              <a:rPr lang="en-US" sz="1000" baseline="30000" dirty="0">
                <a:solidFill>
                  <a:srgbClr val="FF0000"/>
                </a:solidFill>
              </a:rPr>
              <a:t>th</a:t>
            </a:r>
            <a:r>
              <a:rPr lang="en-US" sz="1000" dirty="0">
                <a:solidFill>
                  <a:srgbClr val="FF0000"/>
                </a:solidFill>
              </a:rPr>
              <a:t> Site is Not Supported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9230504D-E640-10C5-4ACF-DD3B68FA83F5}"/>
              </a:ext>
            </a:extLst>
          </p:cNvPr>
          <p:cNvSpPr txBox="1"/>
          <p:nvPr/>
        </p:nvSpPr>
        <p:spPr>
          <a:xfrm>
            <a:off x="3965417" y="4157314"/>
            <a:ext cx="246334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Azure VMware Solution Private Cloud A 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A9647907-AD8E-7CCD-F213-A9DA7E8A8CA6}"/>
              </a:ext>
            </a:extLst>
          </p:cNvPr>
          <p:cNvSpPr txBox="1"/>
          <p:nvPr/>
        </p:nvSpPr>
        <p:spPr>
          <a:xfrm>
            <a:off x="5036376" y="3513258"/>
            <a:ext cx="23851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Azure VMware Solution Private Cloud B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18BB86DD-A98E-55D0-D5E0-83DEE0191A84}"/>
              </a:ext>
            </a:extLst>
          </p:cNvPr>
          <p:cNvSpPr txBox="1"/>
          <p:nvPr/>
        </p:nvSpPr>
        <p:spPr>
          <a:xfrm>
            <a:off x="7788962" y="3510243"/>
            <a:ext cx="239203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Azure VMware Solution Private Cloud C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572DAF1-C90D-9939-1A6D-866B798F41DB}"/>
              </a:ext>
            </a:extLst>
          </p:cNvPr>
          <p:cNvSpPr txBox="1"/>
          <p:nvPr/>
        </p:nvSpPr>
        <p:spPr>
          <a:xfrm>
            <a:off x="2145819" y="2803649"/>
            <a:ext cx="93487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On-Premises</a:t>
            </a:r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2D97CC-0C85-BB42-0E75-9B0E296C1A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3758382" y="1756679"/>
            <a:ext cx="6505964" cy="3236346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4" name="Picture 3" descr="Microsoft Azure - Wikipedia">
            <a:extLst>
              <a:ext uri="{FF2B5EF4-FFF2-40B4-BE49-F238E27FC236}">
                <a16:creationId xmlns:a16="http://schemas.microsoft.com/office/drawing/2014/main" id="{7FDB15D5-CDBE-7DDC-76FC-14E89AD0E0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7535" y="1884543"/>
            <a:ext cx="412834" cy="412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37304CC-6B88-7047-A666-CCF0FDE01966}"/>
              </a:ext>
            </a:extLst>
          </p:cNvPr>
          <p:cNvSpPr txBox="1"/>
          <p:nvPr/>
        </p:nvSpPr>
        <p:spPr>
          <a:xfrm>
            <a:off x="4354205" y="2006321"/>
            <a:ext cx="103073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Microsoft Azure</a:t>
            </a:r>
          </a:p>
        </p:txBody>
      </p:sp>
    </p:spTree>
    <p:extLst>
      <p:ext uri="{BB962C8B-B14F-4D97-AF65-F5344CB8AC3E}">
        <p14:creationId xmlns:p14="http://schemas.microsoft.com/office/powerpoint/2010/main" val="3252011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Virtual Data Center" descr="Virtual Data Center">
            <a:extLst>
              <a:ext uri="{FF2B5EF4-FFF2-40B4-BE49-F238E27FC236}">
                <a16:creationId xmlns:a16="http://schemas.microsoft.com/office/drawing/2014/main" id="{022E7BAB-5D7A-B19B-8A3E-0A7549B968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30208" y="3300079"/>
            <a:ext cx="457550" cy="457550"/>
          </a:xfrm>
          <a:prstGeom prst="rect">
            <a:avLst/>
          </a:prstGeom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587C638-9CB7-ECC0-2618-758756EC8AE0}"/>
              </a:ext>
            </a:extLst>
          </p:cNvPr>
          <p:cNvCxnSpPr/>
          <p:nvPr/>
        </p:nvCxnSpPr>
        <p:spPr>
          <a:xfrm>
            <a:off x="1339274" y="3528854"/>
            <a:ext cx="1533236" cy="0"/>
          </a:xfrm>
          <a:prstGeom prst="straightConnector1">
            <a:avLst/>
          </a:prstGeom>
          <a:ln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Virtual Data Center" descr="Virtual Data Center">
            <a:extLst>
              <a:ext uri="{FF2B5EF4-FFF2-40B4-BE49-F238E27FC236}">
                <a16:creationId xmlns:a16="http://schemas.microsoft.com/office/drawing/2014/main" id="{022E7BAB-5D7A-B19B-8A3E-0A7549B968C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958833" y="3296231"/>
            <a:ext cx="457550" cy="457550"/>
          </a:xfrm>
          <a:prstGeom prst="rect">
            <a:avLst/>
          </a:prstGeom>
        </p:spPr>
      </p:pic>
      <p:pic>
        <p:nvPicPr>
          <p:cNvPr id="10" name="Graphic 80" descr="Azure VMware Solution Private Cloud">
            <a:extLst>
              <a:ext uri="{FF2B5EF4-FFF2-40B4-BE49-F238E27FC236}">
                <a16:creationId xmlns:a16="http://schemas.microsoft.com/office/drawing/2014/main" id="{3182B585-6AA0-49F4-618B-EA44F7D99F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92623" y="2295606"/>
            <a:ext cx="412833" cy="412833"/>
          </a:xfrm>
          <a:prstGeom prst="rect">
            <a:avLst/>
          </a:prstGeom>
        </p:spPr>
      </p:pic>
      <p:pic>
        <p:nvPicPr>
          <p:cNvPr id="11" name="Graphic 80" descr="Azure VMware Solution Private Cloud">
            <a:extLst>
              <a:ext uri="{FF2B5EF4-FFF2-40B4-BE49-F238E27FC236}">
                <a16:creationId xmlns:a16="http://schemas.microsoft.com/office/drawing/2014/main" id="{3182B585-6AA0-49F4-618B-EA44F7D99F8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93478" y="3747879"/>
            <a:ext cx="412833" cy="412833"/>
          </a:xfrm>
          <a:prstGeom prst="rect">
            <a:avLst/>
          </a:prstGeom>
        </p:spPr>
      </p:pic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A132139-78EF-A6B6-7A4B-E48BF51A67EF}"/>
              </a:ext>
            </a:extLst>
          </p:cNvPr>
          <p:cNvCxnSpPr>
            <a:cxnSpLocks/>
          </p:cNvCxnSpPr>
          <p:nvPr/>
        </p:nvCxnSpPr>
        <p:spPr>
          <a:xfrm flipV="1">
            <a:off x="5222996" y="2611538"/>
            <a:ext cx="372021" cy="1182502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79453E0-F900-95D8-A946-156D4E59B2FB}"/>
              </a:ext>
            </a:extLst>
          </p:cNvPr>
          <p:cNvCxnSpPr>
            <a:cxnSpLocks/>
          </p:cNvCxnSpPr>
          <p:nvPr/>
        </p:nvCxnSpPr>
        <p:spPr>
          <a:xfrm>
            <a:off x="3351888" y="3638882"/>
            <a:ext cx="1519174" cy="39982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B4F770BE-9F21-F3F2-5A2C-E2044A9484A3}"/>
              </a:ext>
            </a:extLst>
          </p:cNvPr>
          <p:cNvCxnSpPr>
            <a:cxnSpLocks/>
          </p:cNvCxnSpPr>
          <p:nvPr/>
        </p:nvCxnSpPr>
        <p:spPr>
          <a:xfrm>
            <a:off x="6061161" y="2502022"/>
            <a:ext cx="3186544" cy="0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1FD17AD-E2CD-1F2A-1E6F-BE234424A519}"/>
              </a:ext>
            </a:extLst>
          </p:cNvPr>
          <p:cNvCxnSpPr>
            <a:cxnSpLocks/>
          </p:cNvCxnSpPr>
          <p:nvPr/>
        </p:nvCxnSpPr>
        <p:spPr>
          <a:xfrm>
            <a:off x="5398656" y="3964045"/>
            <a:ext cx="2784763" cy="1"/>
          </a:xfrm>
          <a:prstGeom prst="straightConnector1">
            <a:avLst/>
          </a:prstGeom>
          <a:ln>
            <a:headEnd type="none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FA4818E-478F-C470-9CF7-6F9E182D7286}"/>
              </a:ext>
            </a:extLst>
          </p:cNvPr>
          <p:cNvSpPr txBox="1"/>
          <p:nvPr/>
        </p:nvSpPr>
        <p:spPr>
          <a:xfrm>
            <a:off x="1473424" y="3076338"/>
            <a:ext cx="11540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VLAN 100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026ED45-5EDE-01E7-EE6D-E45F750EBC77}"/>
              </a:ext>
            </a:extLst>
          </p:cNvPr>
          <p:cNvSpPr txBox="1"/>
          <p:nvPr/>
        </p:nvSpPr>
        <p:spPr>
          <a:xfrm>
            <a:off x="743934" y="3747879"/>
            <a:ext cx="237757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1"/>
                </a:solidFill>
              </a:rPr>
              <a:t>On-Premises Site 1 originates VLAN 100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382B9FD-5E9B-9AB2-8300-52765E72694D}"/>
              </a:ext>
            </a:extLst>
          </p:cNvPr>
          <p:cNvCxnSpPr/>
          <p:nvPr/>
        </p:nvCxnSpPr>
        <p:spPr>
          <a:xfrm>
            <a:off x="5477166" y="3783089"/>
            <a:ext cx="1533236" cy="0"/>
          </a:xfrm>
          <a:prstGeom prst="straightConnector1">
            <a:avLst/>
          </a:prstGeom>
          <a:ln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80B1CC1F-77ED-CC4B-F30C-86AEB4AD320C}"/>
              </a:ext>
            </a:extLst>
          </p:cNvPr>
          <p:cNvCxnSpPr/>
          <p:nvPr/>
        </p:nvCxnSpPr>
        <p:spPr>
          <a:xfrm>
            <a:off x="6359240" y="2371031"/>
            <a:ext cx="1533236" cy="0"/>
          </a:xfrm>
          <a:prstGeom prst="straightConnector1">
            <a:avLst/>
          </a:prstGeom>
          <a:ln>
            <a:headEnd type="diamond"/>
            <a:tailEnd type="diamon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C37696D2-4B29-5BEA-8857-FEC4CDCA0DD4}"/>
              </a:ext>
            </a:extLst>
          </p:cNvPr>
          <p:cNvSpPr txBox="1"/>
          <p:nvPr/>
        </p:nvSpPr>
        <p:spPr>
          <a:xfrm>
            <a:off x="6530943" y="2047529"/>
            <a:ext cx="9589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VNI 100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6A70199-F120-DCC7-433B-AD7A6D5F2BD6}"/>
              </a:ext>
            </a:extLst>
          </p:cNvPr>
          <p:cNvSpPr txBox="1"/>
          <p:nvPr/>
        </p:nvSpPr>
        <p:spPr>
          <a:xfrm>
            <a:off x="5598530" y="3494218"/>
            <a:ext cx="11515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VNI 100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1B81A4D-5E3B-AF65-1669-50FC7E9E3676}"/>
              </a:ext>
            </a:extLst>
          </p:cNvPr>
          <p:cNvSpPr txBox="1"/>
          <p:nvPr/>
        </p:nvSpPr>
        <p:spPr>
          <a:xfrm>
            <a:off x="7448504" y="3524448"/>
            <a:ext cx="734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Site 2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6A4513D-8D53-6E9C-07FE-E71095136D4A}"/>
              </a:ext>
            </a:extLst>
          </p:cNvPr>
          <p:cNvSpPr txBox="1"/>
          <p:nvPr/>
        </p:nvSpPr>
        <p:spPr>
          <a:xfrm>
            <a:off x="8543637" y="2001699"/>
            <a:ext cx="10067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Site 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DE031AB-5308-3986-9AA8-C1ECB6A78452}"/>
              </a:ext>
            </a:extLst>
          </p:cNvPr>
          <p:cNvSpPr txBox="1"/>
          <p:nvPr/>
        </p:nvSpPr>
        <p:spPr>
          <a:xfrm>
            <a:off x="4342581" y="2934233"/>
            <a:ext cx="826793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dirty="0">
                <a:solidFill>
                  <a:srgbClr val="FF0000"/>
                </a:solidFill>
              </a:rPr>
              <a:t>Closed Loop L2 Extension</a:t>
            </a:r>
          </a:p>
          <a:p>
            <a:r>
              <a:rPr lang="en-US" sz="900" dirty="0">
                <a:solidFill>
                  <a:srgbClr val="FF0000"/>
                </a:solidFill>
              </a:rPr>
              <a:t>Topologies Not Supported</a:t>
            </a:r>
          </a:p>
        </p:txBody>
      </p:sp>
      <p:cxnSp>
        <p:nvCxnSpPr>
          <p:cNvPr id="58" name="Straight Connector 57">
            <a:extLst>
              <a:ext uri="{FF2B5EF4-FFF2-40B4-BE49-F238E27FC236}">
                <a16:creationId xmlns:a16="http://schemas.microsoft.com/office/drawing/2014/main" id="{11ABE14B-385D-2F55-14C1-445EB05E7ABC}"/>
              </a:ext>
            </a:extLst>
          </p:cNvPr>
          <p:cNvCxnSpPr>
            <a:cxnSpLocks/>
          </p:cNvCxnSpPr>
          <p:nvPr/>
        </p:nvCxnSpPr>
        <p:spPr>
          <a:xfrm flipV="1">
            <a:off x="5306311" y="2743979"/>
            <a:ext cx="336356" cy="103911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>
            <a:extLst>
              <a:ext uri="{FF2B5EF4-FFF2-40B4-BE49-F238E27FC236}">
                <a16:creationId xmlns:a16="http://schemas.microsoft.com/office/drawing/2014/main" id="{BEFA5188-E4A1-30F4-4044-72A1DEF979E5}"/>
              </a:ext>
            </a:extLst>
          </p:cNvPr>
          <p:cNvCxnSpPr>
            <a:cxnSpLocks/>
          </p:cNvCxnSpPr>
          <p:nvPr/>
        </p:nvCxnSpPr>
        <p:spPr>
          <a:xfrm>
            <a:off x="3412996" y="3548882"/>
            <a:ext cx="1414605" cy="349954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7AE0DC5A-6962-69DD-1DAD-46613519AB3B}"/>
              </a:ext>
            </a:extLst>
          </p:cNvPr>
          <p:cNvSpPr txBox="1"/>
          <p:nvPr/>
        </p:nvSpPr>
        <p:spPr>
          <a:xfrm rot="928431">
            <a:off x="3250469" y="3751877"/>
            <a:ext cx="4619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NE-1I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29C53AE0-7DB6-A164-E379-2B0BCF86E231}"/>
              </a:ext>
            </a:extLst>
          </p:cNvPr>
          <p:cNvSpPr txBox="1"/>
          <p:nvPr/>
        </p:nvSpPr>
        <p:spPr>
          <a:xfrm rot="818723">
            <a:off x="4355936" y="4033529"/>
            <a:ext cx="643598" cy="239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NE-1R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7DDA325-58BB-2640-63E5-9141FF25B123}"/>
              </a:ext>
            </a:extLst>
          </p:cNvPr>
          <p:cNvSpPr txBox="1"/>
          <p:nvPr/>
        </p:nvSpPr>
        <p:spPr>
          <a:xfrm rot="17371323">
            <a:off x="4901368" y="3512279"/>
            <a:ext cx="4619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00" dirty="0"/>
              <a:t>NE-2I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69C1C982-AC4A-E11F-B4FE-A2FE2F60E444}"/>
              </a:ext>
            </a:extLst>
          </p:cNvPr>
          <p:cNvSpPr txBox="1"/>
          <p:nvPr/>
        </p:nvSpPr>
        <p:spPr>
          <a:xfrm rot="17839994">
            <a:off x="5175375" y="2671085"/>
            <a:ext cx="59822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NE-2R</a:t>
            </a: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ECFD7824-348E-2D5C-FA33-4677DC5A4F8C}"/>
              </a:ext>
            </a:extLst>
          </p:cNvPr>
          <p:cNvCxnSpPr>
            <a:cxnSpLocks/>
          </p:cNvCxnSpPr>
          <p:nvPr/>
        </p:nvCxnSpPr>
        <p:spPr>
          <a:xfrm flipV="1">
            <a:off x="3351888" y="2539433"/>
            <a:ext cx="2156476" cy="822511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0B4B38D7-7AF3-8B4C-0E90-609C92D2C978}"/>
              </a:ext>
            </a:extLst>
          </p:cNvPr>
          <p:cNvCxnSpPr>
            <a:cxnSpLocks/>
          </p:cNvCxnSpPr>
          <p:nvPr/>
        </p:nvCxnSpPr>
        <p:spPr>
          <a:xfrm flipV="1">
            <a:off x="3348375" y="2450458"/>
            <a:ext cx="2126114" cy="795220"/>
          </a:xfrm>
          <a:prstGeom prst="line">
            <a:avLst/>
          </a:prstGeom>
          <a:ln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TextBox 58">
            <a:extLst>
              <a:ext uri="{FF2B5EF4-FFF2-40B4-BE49-F238E27FC236}">
                <a16:creationId xmlns:a16="http://schemas.microsoft.com/office/drawing/2014/main" id="{E06246CE-CD6F-FB2B-E024-93CC7228A867}"/>
              </a:ext>
            </a:extLst>
          </p:cNvPr>
          <p:cNvSpPr txBox="1"/>
          <p:nvPr/>
        </p:nvSpPr>
        <p:spPr>
          <a:xfrm>
            <a:off x="5692945" y="2775411"/>
            <a:ext cx="250005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Azure VMware Solution Private Cloud B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E86922DF-5A13-C328-7CA5-62A8140EACCB}"/>
              </a:ext>
            </a:extLst>
          </p:cNvPr>
          <p:cNvSpPr txBox="1"/>
          <p:nvPr/>
        </p:nvSpPr>
        <p:spPr>
          <a:xfrm>
            <a:off x="4908100" y="4148416"/>
            <a:ext cx="2375799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Azure VMware Solution Private Cloud 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3E5B43-8EBC-DCB8-6F67-9D812ACB9819}"/>
              </a:ext>
            </a:extLst>
          </p:cNvPr>
          <p:cNvSpPr txBox="1"/>
          <p:nvPr/>
        </p:nvSpPr>
        <p:spPr>
          <a:xfrm>
            <a:off x="491510" y="2750515"/>
            <a:ext cx="7349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Site 1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EE69DE0-FF3C-1928-B473-DE1EFF0C3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269127" y="1600945"/>
            <a:ext cx="5451521" cy="3236346"/>
          </a:xfrm>
          <a:prstGeom prst="rect">
            <a:avLst/>
          </a:prstGeom>
          <a:noFill/>
          <a:ln w="19050">
            <a:solidFill>
              <a:schemeClr val="accent1"/>
            </a:solidFill>
            <a:prstDash val="solid"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 err="1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/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5" name="Picture 4" descr="Microsoft Azure - Wikipedia">
            <a:extLst>
              <a:ext uri="{FF2B5EF4-FFF2-40B4-BE49-F238E27FC236}">
                <a16:creationId xmlns:a16="http://schemas.microsoft.com/office/drawing/2014/main" id="{5C2982DF-C266-5904-1711-329CB7FDA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88281" y="1728809"/>
            <a:ext cx="412834" cy="412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005D18F-1926-98D2-C960-E1FAFD59F5B1}"/>
              </a:ext>
            </a:extLst>
          </p:cNvPr>
          <p:cNvSpPr txBox="1"/>
          <p:nvPr/>
        </p:nvSpPr>
        <p:spPr>
          <a:xfrm>
            <a:off x="4864951" y="1850587"/>
            <a:ext cx="1030731" cy="169277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Microsoft Azure</a:t>
            </a:r>
          </a:p>
        </p:txBody>
      </p:sp>
    </p:spTree>
    <p:extLst>
      <p:ext uri="{BB962C8B-B14F-4D97-AF65-F5344CB8AC3E}">
        <p14:creationId xmlns:p14="http://schemas.microsoft.com/office/powerpoint/2010/main" val="28764675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87867195-f2b8-4ac2-b0b6-6bb73cb33af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399</Words>
  <Application>Microsoft Office PowerPoint</Application>
  <PresentationFormat>Widescreen</PresentationFormat>
  <Paragraphs>127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2026-07-31T12:30:15Z</dcterms:created>
  <dcterms:modified xsi:type="dcterms:W3CDTF">2026-07-31T12:31:18Z</dcterms:modified>
</cp:coreProperties>
</file>